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jpeg" ContentType="image/jpeg"/>
  <Override PartName="/ppt/media/image14.jpeg" ContentType="image/jpeg"/>
  <Override PartName="/ppt/media/image15.jpeg" ContentType="image/jpeg"/>
  <Override PartName="/ppt/media/image16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E3A591C-12B7-42E5-9EC6-3AAD023B4FC9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0F2844-C45A-4E38-A240-954F8E31D4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C8A00C-9025-4AF9-BC98-C0DB9D709C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9063C8-BF15-474D-A78F-46D9131E58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5A0B99-721D-4BAC-9973-15D9ECBA4C5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D91692-A7BE-4DE1-8DE2-B9CEDCD3B0E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F33A5C-C18B-4630-BB41-B9F0871DFE6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7AFBE1-F0F7-4D66-A158-FCDF6B3DEFD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image" Target="../media/image16.jpeg"/><Relationship Id="rId5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4864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09728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64592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19456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74320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29184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84048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38912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493776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48640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03504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58368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13232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68096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22960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877824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0" y="0"/>
            <a:ext cx="9144000" cy="36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0" y="548640"/>
            <a:ext cx="9144000" cy="36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0" y="1097280"/>
            <a:ext cx="9144000" cy="36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0" y="1645920"/>
            <a:ext cx="9144000" cy="36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0" y="2194560"/>
            <a:ext cx="9144000" cy="36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2743200"/>
            <a:ext cx="9144000" cy="36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3291840"/>
            <a:ext cx="9144000" cy="36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3840480"/>
            <a:ext cx="9144000" cy="36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4389120"/>
            <a:ext cx="9144000" cy="36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4937760"/>
            <a:ext cx="9144000" cy="36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2286000" y="914400"/>
            <a:ext cx="4571280" cy="2742480"/>
          </a:xfrm>
          <a:prstGeom prst="ellipse">
            <a:avLst/>
          </a:prstGeom>
          <a:solidFill>
            <a:srgbClr val="00e5f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1828800" y="502920"/>
            <a:ext cx="2285280" cy="255240"/>
          </a:xfrm>
          <a:prstGeom prst="rect">
            <a:avLst/>
          </a:prstGeom>
          <a:solidFill>
            <a:srgbClr val="00e5ff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76320" tIns="7632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97" strike="noStrike">
                <a:solidFill>
                  <a:srgbClr val="00e5ff"/>
                </a:solidFill>
                <a:latin typeface="Arial"/>
                <a:ea typeface="Arial"/>
              </a:rPr>
              <a:t>FINAL PROJECT SUBMISSION · BBA AI &amp; DS · 2026</a:t>
            </a:r>
            <a:endParaRPr b="0" lang="en-IN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548640" y="1051560"/>
            <a:ext cx="80460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0" spc="-1" strike="noStrike">
                <a:solidFill>
                  <a:srgbClr val="00e5ff"/>
                </a:solidFill>
                <a:latin typeface="Arial"/>
                <a:ea typeface="Arial"/>
              </a:rPr>
              <a:t>HireTrack</a:t>
            </a:r>
            <a:endParaRPr b="0" lang="en-IN" sz="6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548640" y="2331720"/>
            <a:ext cx="8046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8e8f0"/>
                </a:solidFill>
                <a:latin typeface="Arial"/>
                <a:ea typeface="Arial"/>
              </a:rPr>
              <a:t>Internship Recruitment Tracking System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548640" y="2880360"/>
            <a:ext cx="8046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d60a"/>
                </a:solidFill>
                <a:latin typeface="Arial"/>
                <a:ea typeface="Arial"/>
              </a:rPr>
              <a:t>for Startups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822960" y="4206240"/>
            <a:ext cx="16452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7a7a9a"/>
                </a:solidFill>
                <a:latin typeface="Arial"/>
                <a:ea typeface="Arial"/>
              </a:rPr>
              <a:t>Name</a:t>
            </a:r>
            <a:endParaRPr b="0" lang="en-IN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822960" y="4389120"/>
            <a:ext cx="1645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e8f0"/>
                </a:solidFill>
                <a:latin typeface="Arial"/>
                <a:ea typeface="Arial"/>
              </a:rPr>
              <a:t>Shreya Chopra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2743200" y="4206240"/>
            <a:ext cx="16452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7a7a9a"/>
                </a:solidFill>
                <a:latin typeface="Arial"/>
                <a:ea typeface="Arial"/>
              </a:rPr>
              <a:t>Roll No.</a:t>
            </a:r>
            <a:endParaRPr b="0" lang="en-IN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2743200" y="4389120"/>
            <a:ext cx="1645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e8f0"/>
                </a:solidFill>
                <a:latin typeface="Arial"/>
                <a:ea typeface="Arial"/>
              </a:rPr>
              <a:t>25BBA149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4663440" y="4206240"/>
            <a:ext cx="16452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7a7a9a"/>
                </a:solidFill>
                <a:latin typeface="Arial"/>
                <a:ea typeface="Arial"/>
              </a:rPr>
              <a:t>Class</a:t>
            </a:r>
            <a:endParaRPr b="0" lang="en-IN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4663440" y="4389120"/>
            <a:ext cx="1645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e8f0"/>
                </a:solidFill>
                <a:latin typeface="Arial"/>
                <a:ea typeface="Arial"/>
              </a:rPr>
              <a:t>BBA AI &amp; DS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6583680" y="4206240"/>
            <a:ext cx="16452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7a7a9a"/>
                </a:solidFill>
                <a:latin typeface="Arial"/>
                <a:ea typeface="Arial"/>
              </a:rPr>
              <a:t>Mentor</a:t>
            </a:r>
            <a:endParaRPr b="0" lang="en-IN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6583680" y="4389120"/>
            <a:ext cx="1645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e8f0"/>
                </a:solidFill>
                <a:latin typeface="Arial"/>
                <a:ea typeface="Arial"/>
              </a:rPr>
              <a:t>Ms. Ishika (FacePrep)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2606040" y="4160520"/>
            <a:ext cx="360" cy="594360"/>
          </a:xfrm>
          <a:prstGeom prst="line">
            <a:avLst/>
          </a:prstGeom>
          <a:ln w="10160">
            <a:solidFill>
              <a:srgbClr val="2a2a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41"/>
          <p:cNvSpPr/>
          <p:nvPr/>
        </p:nvSpPr>
        <p:spPr>
          <a:xfrm>
            <a:off x="4526280" y="4160520"/>
            <a:ext cx="360" cy="594360"/>
          </a:xfrm>
          <a:prstGeom prst="line">
            <a:avLst/>
          </a:prstGeom>
          <a:ln w="10160">
            <a:solidFill>
              <a:srgbClr val="2a2a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6446520" y="4160520"/>
            <a:ext cx="360" cy="594360"/>
          </a:xfrm>
          <a:prstGeom prst="line">
            <a:avLst/>
          </a:prstGeom>
          <a:ln w="10160">
            <a:solidFill>
              <a:srgbClr val="2a2a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457200" y="3474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e8e8f0"/>
                </a:solidFill>
                <a:latin typeface="Arial"/>
                <a:ea typeface="Arial"/>
              </a:rPr>
              <a:t>Project </a:t>
            </a:r>
            <a:r>
              <a:rPr b="1" lang="en-US" sz="2600" spc="-1" strike="noStrike">
                <a:solidFill>
                  <a:srgbClr val="00e5ff"/>
                </a:solidFill>
                <a:latin typeface="Arial"/>
                <a:ea typeface="Arial"/>
              </a:rPr>
              <a:t>Overview</a:t>
            </a:r>
            <a:endParaRPr b="0" lang="en-IN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1"/>
          <p:cNvSpPr/>
          <p:nvPr/>
        </p:nvSpPr>
        <p:spPr>
          <a:xfrm>
            <a:off x="457200" y="1005840"/>
            <a:ext cx="8229600" cy="360"/>
          </a:xfrm>
          <a:prstGeom prst="line">
            <a:avLst/>
          </a:prstGeom>
          <a:ln w="1524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365760" y="1005840"/>
            <a:ext cx="4388400" cy="3656880"/>
          </a:xfrm>
          <a:prstGeom prst="roundRect">
            <a:avLst>
              <a:gd name="adj" fmla="val 2500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502920" y="1115640"/>
            <a:ext cx="2285280" cy="255240"/>
          </a:xfrm>
          <a:prstGeom prst="rect">
            <a:avLst/>
          </a:prstGeom>
          <a:solidFill>
            <a:srgbClr val="00e5ff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76320" tIns="7632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97" strike="noStrike">
                <a:solidFill>
                  <a:srgbClr val="00e5ff"/>
                </a:solidFill>
                <a:latin typeface="Arial"/>
                <a:ea typeface="Arial"/>
              </a:rPr>
              <a:t>THE IDEA</a:t>
            </a:r>
            <a:endParaRPr b="0" lang="en-IN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548640" y="1444680"/>
            <a:ext cx="39312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8e8f0"/>
                </a:solidFill>
                <a:latin typeface="Arial"/>
                <a:ea typeface="Arial"/>
              </a:rPr>
              <a:t>What is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8e8f0"/>
                </a:solidFill>
                <a:latin typeface="Arial"/>
                <a:ea typeface="Arial"/>
              </a:rPr>
              <a:t>HireTrack?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548640" y="2304360"/>
            <a:ext cx="402264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i="1" lang="en-US" sz="950" spc="-1" strike="noStrike">
                <a:solidFill>
                  <a:srgbClr val="7a7a9a"/>
                </a:solidFill>
                <a:latin typeface="Arial"/>
                <a:ea typeface="Arial"/>
              </a:rPr>
              <a:t>A centralized Internship Recruitment Tracking System built for early-stage startups — giving HR teams enterprise-level visibility at zero software cost.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endParaRPr b="0" lang="en-IN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i="1" lang="en-US" sz="950" spc="-1" strike="noStrike">
                <a:solidFill>
                  <a:srgbClr val="7a7a9a"/>
                </a:solidFill>
                <a:latin typeface="Arial"/>
                <a:ea typeface="Arial"/>
              </a:rPr>
              <a:t>Built as an Excel-based ATS with 5 modules: Candidate Database, Pipeline Tracker, Interview Log, Recruiter Metrics, and a live Dashboard.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5074920" y="1005840"/>
            <a:ext cx="3702600" cy="913680"/>
          </a:xfrm>
          <a:prstGeom prst="roundRect">
            <a:avLst>
              <a:gd name="adj" fmla="val 10000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5184720" y="1097280"/>
            <a:ext cx="3483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0e5ff"/>
                </a:solidFill>
                <a:latin typeface="Arial"/>
                <a:ea typeface="Arial"/>
              </a:rPr>
              <a:t>5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5184720" y="1536120"/>
            <a:ext cx="3483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7a7a9a"/>
                </a:solidFill>
                <a:latin typeface="Arial"/>
                <a:ea typeface="Arial"/>
              </a:rPr>
              <a:t>System Modules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9"/>
          <p:cNvSpPr/>
          <p:nvPr/>
        </p:nvSpPr>
        <p:spPr>
          <a:xfrm>
            <a:off x="5074920" y="1993320"/>
            <a:ext cx="3702600" cy="913680"/>
          </a:xfrm>
          <a:prstGeom prst="roundRect">
            <a:avLst>
              <a:gd name="adj" fmla="val 10000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5184720" y="2084760"/>
            <a:ext cx="3483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d60a"/>
                </a:solidFill>
                <a:latin typeface="Arial"/>
                <a:ea typeface="Arial"/>
              </a:rPr>
              <a:t>20+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5184720" y="2523600"/>
            <a:ext cx="3483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7a7a9a"/>
                </a:solidFill>
                <a:latin typeface="Arial"/>
                <a:ea typeface="Arial"/>
              </a:rPr>
              <a:t>Sample Candidates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5074920" y="2980800"/>
            <a:ext cx="3702600" cy="913680"/>
          </a:xfrm>
          <a:prstGeom prst="roundRect">
            <a:avLst>
              <a:gd name="adj" fmla="val 10000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5184720" y="3072240"/>
            <a:ext cx="3483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0e676"/>
                </a:solidFill>
                <a:latin typeface="Arial"/>
                <a:ea typeface="Arial"/>
              </a:rPr>
              <a:t>38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5184720" y="3511440"/>
            <a:ext cx="3483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7a7a9a"/>
                </a:solidFill>
                <a:latin typeface="Arial"/>
                <a:ea typeface="Arial"/>
              </a:rPr>
              <a:t>Live Excel Formulas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15"/>
          <p:cNvSpPr/>
          <p:nvPr/>
        </p:nvSpPr>
        <p:spPr>
          <a:xfrm>
            <a:off x="5074920" y="3968640"/>
            <a:ext cx="3702600" cy="913680"/>
          </a:xfrm>
          <a:prstGeom prst="roundRect">
            <a:avLst>
              <a:gd name="adj" fmla="val 10000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5184720" y="4060080"/>
            <a:ext cx="3483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b388ff"/>
                </a:solidFill>
                <a:latin typeface="Arial"/>
                <a:ea typeface="Arial"/>
              </a:rPr>
              <a:t>₹</a:t>
            </a:r>
            <a:r>
              <a:rPr b="1" lang="en-US" sz="2200" spc="-1" strike="noStrike">
                <a:solidFill>
                  <a:srgbClr val="b388ff"/>
                </a:solidFill>
                <a:latin typeface="Arial"/>
                <a:ea typeface="Arial"/>
              </a:rPr>
              <a:t>0</a:t>
            </a:r>
            <a:endParaRPr b="0" lang="en-IN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5184720" y="4498920"/>
            <a:ext cx="3483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7a7a9a"/>
                </a:solidFill>
                <a:latin typeface="Arial"/>
                <a:ea typeface="Arial"/>
              </a:rPr>
              <a:t>Cost to Startup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457200" y="3474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e8e8f0"/>
                </a:solidFill>
                <a:latin typeface="Arial"/>
                <a:ea typeface="Arial"/>
              </a:rPr>
              <a:t>The </a:t>
            </a:r>
            <a:r>
              <a:rPr b="1" lang="en-US" sz="2600" spc="-1" strike="noStrike">
                <a:solidFill>
                  <a:srgbClr val="00e5ff"/>
                </a:solidFill>
                <a:latin typeface="Arial"/>
                <a:ea typeface="Arial"/>
              </a:rPr>
              <a:t>Problem</a:t>
            </a:r>
            <a:endParaRPr b="0" lang="en-IN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457200" y="1005840"/>
            <a:ext cx="8229600" cy="360"/>
          </a:xfrm>
          <a:prstGeom prst="line">
            <a:avLst/>
          </a:prstGeom>
          <a:ln w="1524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365760" y="1005840"/>
            <a:ext cx="4159800" cy="1718280"/>
          </a:xfrm>
          <a:prstGeom prst="roundRect">
            <a:avLst>
              <a:gd name="adj" fmla="val 5319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548640" y="1207080"/>
            <a:ext cx="547920" cy="547920"/>
          </a:xfrm>
          <a:prstGeom prst="ellipse">
            <a:avLst/>
          </a:prstGeom>
          <a:solidFill>
            <a:srgbClr val="ff5252">
              <a:alpha val="20000"/>
            </a:srgbClr>
          </a:solidFill>
          <a:ln w="7620">
            <a:solidFill>
              <a:srgbClr val="ff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Image 0" descr="preencoded.png"/>
          <p:cNvPicPr/>
          <p:nvPr/>
        </p:nvPicPr>
        <p:blipFill>
          <a:blip r:embed="rId1"/>
          <a:stretch/>
        </p:blipFill>
        <p:spPr>
          <a:xfrm>
            <a:off x="658440" y="131688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74" name="Text 4"/>
          <p:cNvSpPr/>
          <p:nvPr/>
        </p:nvSpPr>
        <p:spPr>
          <a:xfrm>
            <a:off x="1298520" y="1170360"/>
            <a:ext cx="30168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e8f0"/>
                </a:solidFill>
                <a:latin typeface="Arial"/>
                <a:ea typeface="Arial"/>
              </a:rPr>
              <a:t>Scattered Data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1298520" y="1499760"/>
            <a:ext cx="3016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a7a9a"/>
                </a:solidFill>
                <a:latin typeface="Arial"/>
                <a:ea typeface="Arial"/>
              </a:rPr>
              <a:t>Every recruiter keeps a different spreadsheet. No one has the full picture.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6"/>
          <p:cNvSpPr/>
          <p:nvPr/>
        </p:nvSpPr>
        <p:spPr>
          <a:xfrm>
            <a:off x="4709160" y="1005840"/>
            <a:ext cx="4159800" cy="1718280"/>
          </a:xfrm>
          <a:prstGeom prst="roundRect">
            <a:avLst>
              <a:gd name="adj" fmla="val 5319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4892040" y="1207080"/>
            <a:ext cx="547920" cy="547920"/>
          </a:xfrm>
          <a:prstGeom prst="ellipse">
            <a:avLst/>
          </a:prstGeom>
          <a:solidFill>
            <a:srgbClr val="ff9100">
              <a:alpha val="20000"/>
            </a:srgbClr>
          </a:solidFill>
          <a:ln w="7620">
            <a:solidFill>
              <a:srgbClr val="ff9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Image 1" descr="preencoded.png"/>
          <p:cNvPicPr/>
          <p:nvPr/>
        </p:nvPicPr>
        <p:blipFill>
          <a:blip r:embed="rId2"/>
          <a:stretch/>
        </p:blipFill>
        <p:spPr>
          <a:xfrm>
            <a:off x="5001840" y="131688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79" name="Text 8"/>
          <p:cNvSpPr/>
          <p:nvPr/>
        </p:nvSpPr>
        <p:spPr>
          <a:xfrm>
            <a:off x="5641920" y="1170360"/>
            <a:ext cx="30168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e8f0"/>
                </a:solidFill>
                <a:latin typeface="Arial"/>
                <a:ea typeface="Arial"/>
              </a:rPr>
              <a:t>Missed Follow-Ups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9"/>
          <p:cNvSpPr/>
          <p:nvPr/>
        </p:nvSpPr>
        <p:spPr>
          <a:xfrm>
            <a:off x="5641920" y="1499760"/>
            <a:ext cx="3016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a7a9a"/>
                </a:solidFill>
                <a:latin typeface="Arial"/>
                <a:ea typeface="Arial"/>
              </a:rPr>
              <a:t>Candidates wait days without responses and quietly accept other offers.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10"/>
          <p:cNvSpPr/>
          <p:nvPr/>
        </p:nvSpPr>
        <p:spPr>
          <a:xfrm>
            <a:off x="365760" y="2926080"/>
            <a:ext cx="4159800" cy="1718280"/>
          </a:xfrm>
          <a:prstGeom prst="roundRect">
            <a:avLst>
              <a:gd name="adj" fmla="val 5319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11"/>
          <p:cNvSpPr/>
          <p:nvPr/>
        </p:nvSpPr>
        <p:spPr>
          <a:xfrm>
            <a:off x="548640" y="3127320"/>
            <a:ext cx="547920" cy="547920"/>
          </a:xfrm>
          <a:prstGeom prst="ellipse">
            <a:avLst/>
          </a:prstGeom>
          <a:solidFill>
            <a:srgbClr val="b388ff">
              <a:alpha val="20000"/>
            </a:srgbClr>
          </a:solidFill>
          <a:ln w="7620">
            <a:solidFill>
              <a:srgbClr val="b38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Image 2" descr="preencoded.png"/>
          <p:cNvPicPr/>
          <p:nvPr/>
        </p:nvPicPr>
        <p:blipFill>
          <a:blip r:embed="rId3"/>
          <a:stretch/>
        </p:blipFill>
        <p:spPr>
          <a:xfrm>
            <a:off x="658440" y="323712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84" name="Text 12"/>
          <p:cNvSpPr/>
          <p:nvPr/>
        </p:nvSpPr>
        <p:spPr>
          <a:xfrm>
            <a:off x="1298520" y="3090600"/>
            <a:ext cx="30168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e8f0"/>
                </a:solidFill>
                <a:latin typeface="Arial"/>
                <a:ea typeface="Arial"/>
              </a:rPr>
              <a:t>No Visibility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13"/>
          <p:cNvSpPr/>
          <p:nvPr/>
        </p:nvSpPr>
        <p:spPr>
          <a:xfrm>
            <a:off x="1298520" y="3420000"/>
            <a:ext cx="3016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a7a9a"/>
                </a:solidFill>
                <a:latin typeface="Arial"/>
                <a:ea typeface="Arial"/>
              </a:rPr>
              <a:t>Founders have zero insight into how many candidates are at each stage.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14"/>
          <p:cNvSpPr/>
          <p:nvPr/>
        </p:nvSpPr>
        <p:spPr>
          <a:xfrm>
            <a:off x="4709160" y="2926080"/>
            <a:ext cx="4159800" cy="1718280"/>
          </a:xfrm>
          <a:prstGeom prst="roundRect">
            <a:avLst>
              <a:gd name="adj" fmla="val 5319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15"/>
          <p:cNvSpPr/>
          <p:nvPr/>
        </p:nvSpPr>
        <p:spPr>
          <a:xfrm>
            <a:off x="4892040" y="3127320"/>
            <a:ext cx="547920" cy="547920"/>
          </a:xfrm>
          <a:prstGeom prst="ellipse">
            <a:avLst/>
          </a:prstGeom>
          <a:solidFill>
            <a:srgbClr val="ffd60a">
              <a:alpha val="20000"/>
            </a:srgbClr>
          </a:solidFill>
          <a:ln w="7620">
            <a:solidFill>
              <a:srgbClr val="ffd6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 3" descr="preencoded.png"/>
          <p:cNvPicPr/>
          <p:nvPr/>
        </p:nvPicPr>
        <p:blipFill>
          <a:blip r:embed="rId4"/>
          <a:stretch/>
        </p:blipFill>
        <p:spPr>
          <a:xfrm>
            <a:off x="5001840" y="323712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89" name="Text 16"/>
          <p:cNvSpPr/>
          <p:nvPr/>
        </p:nvSpPr>
        <p:spPr>
          <a:xfrm>
            <a:off x="5641920" y="3090600"/>
            <a:ext cx="30168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e8f0"/>
                </a:solidFill>
                <a:latin typeface="Arial"/>
                <a:ea typeface="Arial"/>
              </a:rPr>
              <a:t>Wasted Hours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17"/>
          <p:cNvSpPr/>
          <p:nvPr/>
        </p:nvSpPr>
        <p:spPr>
          <a:xfrm>
            <a:off x="5641920" y="3420000"/>
            <a:ext cx="3016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a7a9a"/>
                </a:solidFill>
                <a:latin typeface="Arial"/>
                <a:ea typeface="Arial"/>
              </a:rPr>
              <a:t>2+ hours per week just reconciling duplicate records across teams.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18"/>
          <p:cNvSpPr/>
          <p:nvPr/>
        </p:nvSpPr>
        <p:spPr>
          <a:xfrm>
            <a:off x="365760" y="4663440"/>
            <a:ext cx="8411760" cy="346680"/>
          </a:xfrm>
          <a:prstGeom prst="roundRect">
            <a:avLst>
              <a:gd name="adj" fmla="val 15789"/>
            </a:avLst>
          </a:prstGeom>
          <a:solidFill>
            <a:srgbClr val="ff5252">
              <a:alpha val="12000"/>
            </a:srgbClr>
          </a:solidFill>
          <a:ln w="7620">
            <a:solidFill>
              <a:srgbClr val="ff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9"/>
          <p:cNvSpPr/>
          <p:nvPr/>
        </p:nvSpPr>
        <p:spPr>
          <a:xfrm>
            <a:off x="548640" y="4681800"/>
            <a:ext cx="80460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e8e8f0"/>
                </a:solidFill>
                <a:latin typeface="Arial"/>
                <a:ea typeface="Arial"/>
              </a:rPr>
              <a:t>93% of Indian startups (early-stage) operate recruitment entirely through manual Excel sheets with no pipeline structure.</a:t>
            </a:r>
            <a:endParaRPr b="0" lang="en-IN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457200" y="3474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e8e8f0"/>
                </a:solidFill>
                <a:latin typeface="Arial"/>
                <a:ea typeface="Arial"/>
              </a:rPr>
              <a:t>The </a:t>
            </a:r>
            <a:r>
              <a:rPr b="1" lang="en-US" sz="2600" spc="-1" strike="noStrike">
                <a:solidFill>
                  <a:srgbClr val="00e5ff"/>
                </a:solidFill>
                <a:latin typeface="Arial"/>
                <a:ea typeface="Arial"/>
              </a:rPr>
              <a:t>Solution</a:t>
            </a:r>
            <a:endParaRPr b="0" lang="en-IN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1"/>
          <p:cNvSpPr/>
          <p:nvPr/>
        </p:nvSpPr>
        <p:spPr>
          <a:xfrm>
            <a:off x="457200" y="1005840"/>
            <a:ext cx="8229600" cy="360"/>
          </a:xfrm>
          <a:prstGeom prst="line">
            <a:avLst/>
          </a:prstGeom>
          <a:ln w="1524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320040" y="987480"/>
            <a:ext cx="2705760" cy="1718280"/>
          </a:xfrm>
          <a:prstGeom prst="roundRect">
            <a:avLst>
              <a:gd name="adj" fmla="val 5319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475560" y="1152000"/>
            <a:ext cx="511200" cy="511200"/>
          </a:xfrm>
          <a:prstGeom prst="ellipse">
            <a:avLst/>
          </a:prstGeom>
          <a:solidFill>
            <a:srgbClr val="00e5ff">
              <a:alpha val="20000"/>
            </a:srgbClr>
          </a:solidFill>
          <a:ln w="762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Image 0" descr="preencoded.png"/>
          <p:cNvPicPr/>
          <p:nvPr/>
        </p:nvPicPr>
        <p:blipFill>
          <a:blip r:embed="rId1"/>
          <a:stretch/>
        </p:blipFill>
        <p:spPr>
          <a:xfrm>
            <a:off x="577800" y="1254600"/>
            <a:ext cx="306360" cy="306360"/>
          </a:xfrm>
          <a:prstGeom prst="rect">
            <a:avLst/>
          </a:prstGeom>
          <a:ln w="0">
            <a:noFill/>
          </a:ln>
        </p:spPr>
      </p:pic>
      <p:sp>
        <p:nvSpPr>
          <p:cNvPr id="98" name="Text 4"/>
          <p:cNvSpPr/>
          <p:nvPr/>
        </p:nvSpPr>
        <p:spPr>
          <a:xfrm>
            <a:off x="1143000" y="1152000"/>
            <a:ext cx="1736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e8f0"/>
                </a:solidFill>
                <a:latin typeface="Arial"/>
                <a:ea typeface="Arial"/>
              </a:rPr>
              <a:t>Candidate Database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448200" y="1737360"/>
            <a:ext cx="2449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a7a9a"/>
                </a:solidFill>
                <a:latin typeface="Arial"/>
                <a:ea typeface="Arial"/>
              </a:rPr>
              <a:t>Full profiles — source, skills, CTC, contact, resume link in one central sheet.</a:t>
            </a:r>
            <a:endParaRPr b="0" lang="en-IN" sz="8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3173040" y="987480"/>
            <a:ext cx="2705760" cy="1718280"/>
          </a:xfrm>
          <a:prstGeom prst="roundRect">
            <a:avLst>
              <a:gd name="adj" fmla="val 5319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3328560" y="1152000"/>
            <a:ext cx="511200" cy="511200"/>
          </a:xfrm>
          <a:prstGeom prst="ellipse">
            <a:avLst/>
          </a:prstGeom>
          <a:solidFill>
            <a:srgbClr val="ffd60a">
              <a:alpha val="20000"/>
            </a:srgbClr>
          </a:solidFill>
          <a:ln w="7620">
            <a:solidFill>
              <a:srgbClr val="ffd6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Image 1" descr="preencoded.png"/>
          <p:cNvPicPr/>
          <p:nvPr/>
        </p:nvPicPr>
        <p:blipFill>
          <a:blip r:embed="rId2"/>
          <a:stretch/>
        </p:blipFill>
        <p:spPr>
          <a:xfrm>
            <a:off x="3430800" y="1254600"/>
            <a:ext cx="306360" cy="306360"/>
          </a:xfrm>
          <a:prstGeom prst="rect">
            <a:avLst/>
          </a:prstGeom>
          <a:ln w="0">
            <a:noFill/>
          </a:ln>
        </p:spPr>
      </p:pic>
      <p:sp>
        <p:nvSpPr>
          <p:cNvPr id="103" name="Text 8"/>
          <p:cNvSpPr/>
          <p:nvPr/>
        </p:nvSpPr>
        <p:spPr>
          <a:xfrm>
            <a:off x="3996000" y="1152000"/>
            <a:ext cx="1736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e8f0"/>
                </a:solidFill>
                <a:latin typeface="Arial"/>
                <a:ea typeface="Arial"/>
              </a:rPr>
              <a:t>Pipeline Tracker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3300840" y="1737360"/>
            <a:ext cx="2449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a7a9a"/>
                </a:solidFill>
                <a:latin typeface="Arial"/>
                <a:ea typeface="Arial"/>
              </a:rPr>
              <a:t>Stage-by-stage view: Applied → Screened → Interview → Offer → Joined.</a:t>
            </a:r>
            <a:endParaRPr b="0" lang="en-IN" sz="8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6026040" y="987480"/>
            <a:ext cx="2705760" cy="1718280"/>
          </a:xfrm>
          <a:prstGeom prst="roundRect">
            <a:avLst>
              <a:gd name="adj" fmla="val 5319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11"/>
          <p:cNvSpPr/>
          <p:nvPr/>
        </p:nvSpPr>
        <p:spPr>
          <a:xfrm>
            <a:off x="6181200" y="1152000"/>
            <a:ext cx="511200" cy="511200"/>
          </a:xfrm>
          <a:prstGeom prst="ellipse">
            <a:avLst/>
          </a:prstGeom>
          <a:solidFill>
            <a:srgbClr val="00e676">
              <a:alpha val="20000"/>
            </a:srgbClr>
          </a:solidFill>
          <a:ln w="7620">
            <a:solidFill>
              <a:srgbClr val="00e6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" name="Image 2" descr="preencoded.png"/>
          <p:cNvPicPr/>
          <p:nvPr/>
        </p:nvPicPr>
        <p:blipFill>
          <a:blip r:embed="rId3"/>
          <a:stretch/>
        </p:blipFill>
        <p:spPr>
          <a:xfrm>
            <a:off x="6283800" y="1254600"/>
            <a:ext cx="306360" cy="306360"/>
          </a:xfrm>
          <a:prstGeom prst="rect">
            <a:avLst/>
          </a:prstGeom>
          <a:ln w="0">
            <a:noFill/>
          </a:ln>
        </p:spPr>
      </p:pic>
      <p:sp>
        <p:nvSpPr>
          <p:cNvPr id="108" name="Text 12"/>
          <p:cNvSpPr/>
          <p:nvPr/>
        </p:nvSpPr>
        <p:spPr>
          <a:xfrm>
            <a:off x="6849000" y="1152000"/>
            <a:ext cx="1736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e8f0"/>
                </a:solidFill>
                <a:latin typeface="Arial"/>
                <a:ea typeface="Arial"/>
              </a:rPr>
              <a:t>Interview Log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6153840" y="1737360"/>
            <a:ext cx="2449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a7a9a"/>
                </a:solidFill>
                <a:latin typeface="Arial"/>
                <a:ea typeface="Arial"/>
              </a:rPr>
              <a:t>Date, mode, interviewer, feedback ratings — all logged in one place.</a:t>
            </a:r>
            <a:endParaRPr b="0" lang="en-IN" sz="8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14"/>
          <p:cNvSpPr/>
          <p:nvPr/>
        </p:nvSpPr>
        <p:spPr>
          <a:xfrm>
            <a:off x="320040" y="2907720"/>
            <a:ext cx="2705760" cy="1718280"/>
          </a:xfrm>
          <a:prstGeom prst="roundRect">
            <a:avLst>
              <a:gd name="adj" fmla="val 5319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5"/>
          <p:cNvSpPr/>
          <p:nvPr/>
        </p:nvSpPr>
        <p:spPr>
          <a:xfrm>
            <a:off x="475560" y="3072240"/>
            <a:ext cx="511200" cy="511200"/>
          </a:xfrm>
          <a:prstGeom prst="ellipse">
            <a:avLst/>
          </a:prstGeom>
          <a:solidFill>
            <a:srgbClr val="b388ff">
              <a:alpha val="20000"/>
            </a:srgbClr>
          </a:solidFill>
          <a:ln w="7620">
            <a:solidFill>
              <a:srgbClr val="b38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Image 3" descr="preencoded.png"/>
          <p:cNvPicPr/>
          <p:nvPr/>
        </p:nvPicPr>
        <p:blipFill>
          <a:blip r:embed="rId4"/>
          <a:stretch/>
        </p:blipFill>
        <p:spPr>
          <a:xfrm>
            <a:off x="577800" y="3174840"/>
            <a:ext cx="306360" cy="306360"/>
          </a:xfrm>
          <a:prstGeom prst="rect">
            <a:avLst/>
          </a:prstGeom>
          <a:ln w="0">
            <a:noFill/>
          </a:ln>
        </p:spPr>
      </p:pic>
      <p:sp>
        <p:nvSpPr>
          <p:cNvPr id="113" name="Text 16"/>
          <p:cNvSpPr/>
          <p:nvPr/>
        </p:nvSpPr>
        <p:spPr>
          <a:xfrm>
            <a:off x="1143000" y="3072240"/>
            <a:ext cx="1736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e8f0"/>
                </a:solidFill>
                <a:latin typeface="Arial"/>
                <a:ea typeface="Arial"/>
              </a:rPr>
              <a:t>Recruiter Metrics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7"/>
          <p:cNvSpPr/>
          <p:nvPr/>
        </p:nvSpPr>
        <p:spPr>
          <a:xfrm>
            <a:off x="448200" y="3657600"/>
            <a:ext cx="2449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a7a9a"/>
                </a:solidFill>
                <a:latin typeface="Arial"/>
                <a:ea typeface="Arial"/>
              </a:rPr>
              <a:t>Per-recruiter KPIs: calls, offers, rejection rate, avg. days to hire.</a:t>
            </a:r>
            <a:endParaRPr b="0" lang="en-IN" sz="8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18"/>
          <p:cNvSpPr/>
          <p:nvPr/>
        </p:nvSpPr>
        <p:spPr>
          <a:xfrm>
            <a:off x="3173040" y="2907720"/>
            <a:ext cx="2705760" cy="1718280"/>
          </a:xfrm>
          <a:prstGeom prst="roundRect">
            <a:avLst>
              <a:gd name="adj" fmla="val 5319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19"/>
          <p:cNvSpPr/>
          <p:nvPr/>
        </p:nvSpPr>
        <p:spPr>
          <a:xfrm>
            <a:off x="3328560" y="3072240"/>
            <a:ext cx="511200" cy="511200"/>
          </a:xfrm>
          <a:prstGeom prst="ellipse">
            <a:avLst/>
          </a:prstGeom>
          <a:solidFill>
            <a:srgbClr val="ff9100">
              <a:alpha val="20000"/>
            </a:srgbClr>
          </a:solidFill>
          <a:ln w="7620">
            <a:solidFill>
              <a:srgbClr val="ff9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Image 4" descr="preencoded.png"/>
          <p:cNvPicPr/>
          <p:nvPr/>
        </p:nvPicPr>
        <p:blipFill>
          <a:blip r:embed="rId5"/>
          <a:stretch/>
        </p:blipFill>
        <p:spPr>
          <a:xfrm>
            <a:off x="3430800" y="3174840"/>
            <a:ext cx="306360" cy="306360"/>
          </a:xfrm>
          <a:prstGeom prst="rect">
            <a:avLst/>
          </a:prstGeom>
          <a:ln w="0">
            <a:noFill/>
          </a:ln>
        </p:spPr>
      </p:pic>
      <p:sp>
        <p:nvSpPr>
          <p:cNvPr id="118" name="Text 20"/>
          <p:cNvSpPr/>
          <p:nvPr/>
        </p:nvSpPr>
        <p:spPr>
          <a:xfrm>
            <a:off x="3996000" y="3072240"/>
            <a:ext cx="1736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e8f0"/>
                </a:solidFill>
                <a:latin typeface="Arial"/>
                <a:ea typeface="Arial"/>
              </a:rPr>
              <a:t>Live Dashboard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21"/>
          <p:cNvSpPr/>
          <p:nvPr/>
        </p:nvSpPr>
        <p:spPr>
          <a:xfrm>
            <a:off x="3300840" y="3657600"/>
            <a:ext cx="2449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a7a9a"/>
                </a:solidFill>
                <a:latin typeface="Arial"/>
                <a:ea typeface="Arial"/>
              </a:rPr>
              <a:t>Auto-updating charts and 6 KPI cards — funnel drop-off at a glance.</a:t>
            </a:r>
            <a:endParaRPr b="0" lang="en-IN" sz="8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22"/>
          <p:cNvSpPr/>
          <p:nvPr/>
        </p:nvSpPr>
        <p:spPr>
          <a:xfrm>
            <a:off x="6026040" y="2907720"/>
            <a:ext cx="2705760" cy="1718280"/>
          </a:xfrm>
          <a:prstGeom prst="roundRect">
            <a:avLst>
              <a:gd name="adj" fmla="val 5319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23"/>
          <p:cNvSpPr/>
          <p:nvPr/>
        </p:nvSpPr>
        <p:spPr>
          <a:xfrm>
            <a:off x="6181200" y="3072240"/>
            <a:ext cx="511200" cy="511200"/>
          </a:xfrm>
          <a:prstGeom prst="ellipse">
            <a:avLst/>
          </a:prstGeom>
          <a:solidFill>
            <a:srgbClr val="00e5ff">
              <a:alpha val="20000"/>
            </a:srgbClr>
          </a:solidFill>
          <a:ln w="762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Image 5" descr="preencoded.png"/>
          <p:cNvPicPr/>
          <p:nvPr/>
        </p:nvPicPr>
        <p:blipFill>
          <a:blip r:embed="rId6"/>
          <a:stretch/>
        </p:blipFill>
        <p:spPr>
          <a:xfrm>
            <a:off x="6283800" y="3174840"/>
            <a:ext cx="306360" cy="306360"/>
          </a:xfrm>
          <a:prstGeom prst="rect">
            <a:avLst/>
          </a:prstGeom>
          <a:ln w="0">
            <a:noFill/>
          </a:ln>
        </p:spPr>
      </p:pic>
      <p:sp>
        <p:nvSpPr>
          <p:cNvPr id="123" name="Text 24"/>
          <p:cNvSpPr/>
          <p:nvPr/>
        </p:nvSpPr>
        <p:spPr>
          <a:xfrm>
            <a:off x="6849000" y="3072240"/>
            <a:ext cx="1736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e8f0"/>
                </a:solidFill>
                <a:latin typeface="Arial"/>
                <a:ea typeface="Arial"/>
              </a:rPr>
              <a:t>Website + Web App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25"/>
          <p:cNvSpPr/>
          <p:nvPr/>
        </p:nvSpPr>
        <p:spPr>
          <a:xfrm>
            <a:off x="6153840" y="3657600"/>
            <a:ext cx="2449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20" spc="-1" strike="noStrike">
                <a:solidFill>
                  <a:srgbClr val="7a7a9a"/>
                </a:solidFill>
                <a:latin typeface="Arial"/>
                <a:ea typeface="Arial"/>
              </a:rPr>
              <a:t>Landing page + live browser tracker. Deployable to GitHub Pages instantly.</a:t>
            </a:r>
            <a:endParaRPr b="0" lang="en-IN" sz="8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548640" y="457200"/>
            <a:ext cx="80463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1100" spc="148" strike="noStrike">
                <a:solidFill>
                  <a:srgbClr val="00e5ff"/>
                </a:solidFill>
                <a:latin typeface="Arial"/>
              </a:rPr>
              <a:t>TECH STACK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548640" y="804600"/>
            <a:ext cx="80463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3200" spc="-1" strike="noStrike">
                <a:solidFill>
                  <a:srgbClr val="e8e8f0"/>
                </a:solidFill>
                <a:latin typeface="Arial"/>
              </a:rPr>
              <a:t>Tools &amp; Technologies Used</a:t>
            </a: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Rounded Rectangle 3"/>
          <p:cNvSpPr/>
          <p:nvPr/>
        </p:nvSpPr>
        <p:spPr>
          <a:xfrm>
            <a:off x="548640" y="1417320"/>
            <a:ext cx="2511360" cy="1416960"/>
          </a:xfrm>
          <a:prstGeom prst="roundRect">
            <a:avLst>
              <a:gd name="adj" fmla="val 6000"/>
            </a:avLst>
          </a:prstGeom>
          <a:solidFill>
            <a:srgbClr val="16161f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Oval 4"/>
          <p:cNvSpPr/>
          <p:nvPr/>
        </p:nvSpPr>
        <p:spPr>
          <a:xfrm>
            <a:off x="749880" y="1600200"/>
            <a:ext cx="328680" cy="328680"/>
          </a:xfrm>
          <a:prstGeom prst="ellipse">
            <a:avLst/>
          </a:prstGeom>
          <a:solidFill>
            <a:srgbClr val="132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300" spc="-1" strike="noStrike">
                <a:solidFill>
                  <a:srgbClr val="00e5ff"/>
                </a:solidFill>
                <a:latin typeface="Arial"/>
              </a:rPr>
              <a:t>1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Box 5"/>
          <p:cNvSpPr/>
          <p:nvPr/>
        </p:nvSpPr>
        <p:spPr>
          <a:xfrm>
            <a:off x="749880" y="2039040"/>
            <a:ext cx="2145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1250" spc="-1" strike="noStrike">
                <a:solidFill>
                  <a:srgbClr val="e8e8f0"/>
                </a:solidFill>
                <a:latin typeface="Arial"/>
              </a:rPr>
              <a:t>Excel / Google Sheets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749880" y="2350080"/>
            <a:ext cx="21456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IN" sz="950" spc="-1" strike="noStrike">
                <a:solidFill>
                  <a:srgbClr val="7a7a9a"/>
                </a:solidFill>
                <a:latin typeface="Arial"/>
              </a:rPr>
              <a:t>Core ATS engine — five linked sheets, zero external software cost.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Rounded Rectangle 7"/>
          <p:cNvSpPr/>
          <p:nvPr/>
        </p:nvSpPr>
        <p:spPr>
          <a:xfrm>
            <a:off x="3316320" y="1417320"/>
            <a:ext cx="2511360" cy="1416960"/>
          </a:xfrm>
          <a:prstGeom prst="roundRect">
            <a:avLst>
              <a:gd name="adj" fmla="val 6000"/>
            </a:avLst>
          </a:prstGeom>
          <a:solidFill>
            <a:srgbClr val="16161f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Oval 8"/>
          <p:cNvSpPr/>
          <p:nvPr/>
        </p:nvSpPr>
        <p:spPr>
          <a:xfrm>
            <a:off x="3517560" y="1600200"/>
            <a:ext cx="328680" cy="328680"/>
          </a:xfrm>
          <a:prstGeom prst="ellipse">
            <a:avLst/>
          </a:prstGeom>
          <a:solidFill>
            <a:srgbClr val="132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300" spc="-1" strike="noStrike">
                <a:solidFill>
                  <a:srgbClr val="00e5ff"/>
                </a:solidFill>
                <a:latin typeface="Arial"/>
              </a:rPr>
              <a:t>2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Box 9"/>
          <p:cNvSpPr/>
          <p:nvPr/>
        </p:nvSpPr>
        <p:spPr>
          <a:xfrm>
            <a:off x="3517560" y="2039040"/>
            <a:ext cx="2145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1250" spc="-1" strike="noStrike">
                <a:solidFill>
                  <a:srgbClr val="e8e8f0"/>
                </a:solidFill>
                <a:latin typeface="Arial"/>
              </a:rPr>
              <a:t>38 Live Excel Formulas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10"/>
          <p:cNvSpPr/>
          <p:nvPr/>
        </p:nvSpPr>
        <p:spPr>
          <a:xfrm>
            <a:off x="3517560" y="2350080"/>
            <a:ext cx="214560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IN" sz="950" spc="-1" strike="noStrike">
                <a:solidFill>
                  <a:srgbClr val="7a7a9a"/>
                </a:solidFill>
                <a:latin typeface="Arial"/>
              </a:rPr>
              <a:t>VLOOKUP, IFS, COUNTIFS, data validation — powering pipeline automation.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Rounded Rectangle 11"/>
          <p:cNvSpPr/>
          <p:nvPr/>
        </p:nvSpPr>
        <p:spPr>
          <a:xfrm>
            <a:off x="6083640" y="1417320"/>
            <a:ext cx="2511360" cy="1416960"/>
          </a:xfrm>
          <a:prstGeom prst="roundRect">
            <a:avLst>
              <a:gd name="adj" fmla="val 6000"/>
            </a:avLst>
          </a:prstGeom>
          <a:solidFill>
            <a:srgbClr val="16161f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Oval 12"/>
          <p:cNvSpPr/>
          <p:nvPr/>
        </p:nvSpPr>
        <p:spPr>
          <a:xfrm>
            <a:off x="6284880" y="1600200"/>
            <a:ext cx="328680" cy="328680"/>
          </a:xfrm>
          <a:prstGeom prst="ellipse">
            <a:avLst/>
          </a:prstGeom>
          <a:solidFill>
            <a:srgbClr val="132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300" spc="-1" strike="noStrike">
                <a:solidFill>
                  <a:srgbClr val="00e5ff"/>
                </a:solidFill>
                <a:latin typeface="Arial"/>
              </a:rPr>
              <a:t>3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13"/>
          <p:cNvSpPr/>
          <p:nvPr/>
        </p:nvSpPr>
        <p:spPr>
          <a:xfrm>
            <a:off x="6284880" y="2039040"/>
            <a:ext cx="2145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1250" spc="-1" strike="noStrike">
                <a:solidFill>
                  <a:srgbClr val="e8e8f0"/>
                </a:solidFill>
                <a:latin typeface="Arial"/>
              </a:rPr>
              <a:t>HTML, CSS, JavaScript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Box 14"/>
          <p:cNvSpPr/>
          <p:nvPr/>
        </p:nvSpPr>
        <p:spPr>
          <a:xfrm>
            <a:off x="6284880" y="2350080"/>
            <a:ext cx="21456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IN" sz="950" spc="-1" strike="noStrike">
                <a:solidFill>
                  <a:srgbClr val="7a7a9a"/>
                </a:solidFill>
                <a:latin typeface="Arial"/>
              </a:rPr>
              <a:t>Landing page and a live browser-based candidate tracker (add/edit/delete).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Rounded Rectangle 15"/>
          <p:cNvSpPr/>
          <p:nvPr/>
        </p:nvSpPr>
        <p:spPr>
          <a:xfrm>
            <a:off x="548640" y="3090600"/>
            <a:ext cx="2511360" cy="1416960"/>
          </a:xfrm>
          <a:prstGeom prst="roundRect">
            <a:avLst>
              <a:gd name="adj" fmla="val 6000"/>
            </a:avLst>
          </a:prstGeom>
          <a:solidFill>
            <a:srgbClr val="16161f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Oval 16"/>
          <p:cNvSpPr/>
          <p:nvPr/>
        </p:nvSpPr>
        <p:spPr>
          <a:xfrm>
            <a:off x="749880" y="3273480"/>
            <a:ext cx="328680" cy="328680"/>
          </a:xfrm>
          <a:prstGeom prst="ellipse">
            <a:avLst/>
          </a:prstGeom>
          <a:solidFill>
            <a:srgbClr val="132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300" spc="-1" strike="noStrike">
                <a:solidFill>
                  <a:srgbClr val="00e5ff"/>
                </a:solidFill>
                <a:latin typeface="Arial"/>
              </a:rPr>
              <a:t>4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Box 17"/>
          <p:cNvSpPr/>
          <p:nvPr/>
        </p:nvSpPr>
        <p:spPr>
          <a:xfrm>
            <a:off x="749880" y="3712320"/>
            <a:ext cx="2145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1250" spc="-1" strike="noStrike">
                <a:solidFill>
                  <a:srgbClr val="e8e8f0"/>
                </a:solidFill>
                <a:latin typeface="Arial"/>
              </a:rPr>
              <a:t>Excel Charts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Box 18"/>
          <p:cNvSpPr/>
          <p:nvPr/>
        </p:nvSpPr>
        <p:spPr>
          <a:xfrm>
            <a:off x="749880" y="4023360"/>
            <a:ext cx="21456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IN" sz="950" spc="-1" strike="noStrike">
                <a:solidFill>
                  <a:srgbClr val="7a7a9a"/>
                </a:solidFill>
                <a:latin typeface="Arial"/>
              </a:rPr>
              <a:t>Bar + pie charts driving the auto-updating KPI dashboard.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Rounded Rectangle 19"/>
          <p:cNvSpPr/>
          <p:nvPr/>
        </p:nvSpPr>
        <p:spPr>
          <a:xfrm>
            <a:off x="3316320" y="3090600"/>
            <a:ext cx="2511360" cy="1416960"/>
          </a:xfrm>
          <a:prstGeom prst="roundRect">
            <a:avLst>
              <a:gd name="adj" fmla="val 6000"/>
            </a:avLst>
          </a:prstGeom>
          <a:solidFill>
            <a:srgbClr val="16161f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Oval 20"/>
          <p:cNvSpPr/>
          <p:nvPr/>
        </p:nvSpPr>
        <p:spPr>
          <a:xfrm>
            <a:off x="3517560" y="3273480"/>
            <a:ext cx="328680" cy="328680"/>
          </a:xfrm>
          <a:prstGeom prst="ellipse">
            <a:avLst/>
          </a:prstGeom>
          <a:solidFill>
            <a:srgbClr val="132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300" spc="-1" strike="noStrike">
                <a:solidFill>
                  <a:srgbClr val="00e5ff"/>
                </a:solidFill>
                <a:latin typeface="Arial"/>
              </a:rPr>
              <a:t>5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Box 21"/>
          <p:cNvSpPr/>
          <p:nvPr/>
        </p:nvSpPr>
        <p:spPr>
          <a:xfrm>
            <a:off x="3517560" y="3712320"/>
            <a:ext cx="2145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1250" spc="-1" strike="noStrike">
                <a:solidFill>
                  <a:srgbClr val="e8e8f0"/>
                </a:solidFill>
                <a:latin typeface="Arial"/>
              </a:rPr>
              <a:t>GitHub &amp; GitHub Pages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Box 22"/>
          <p:cNvSpPr/>
          <p:nvPr/>
        </p:nvSpPr>
        <p:spPr>
          <a:xfrm>
            <a:off x="3517560" y="4023360"/>
            <a:ext cx="21456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IN" sz="950" spc="-1" strike="noStrike">
                <a:solidFill>
                  <a:srgbClr val="7a7a9a"/>
                </a:solidFill>
                <a:latin typeface="Arial"/>
              </a:rPr>
              <a:t>Version control and free static hosting for instant deployment.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Rounded Rectangle 23"/>
          <p:cNvSpPr/>
          <p:nvPr/>
        </p:nvSpPr>
        <p:spPr>
          <a:xfrm>
            <a:off x="6083640" y="3090600"/>
            <a:ext cx="2511360" cy="1416960"/>
          </a:xfrm>
          <a:prstGeom prst="roundRect">
            <a:avLst>
              <a:gd name="adj" fmla="val 6000"/>
            </a:avLst>
          </a:prstGeom>
          <a:solidFill>
            <a:srgbClr val="16161f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Oval 24"/>
          <p:cNvSpPr/>
          <p:nvPr/>
        </p:nvSpPr>
        <p:spPr>
          <a:xfrm>
            <a:off x="6284880" y="3273480"/>
            <a:ext cx="328680" cy="328680"/>
          </a:xfrm>
          <a:prstGeom prst="ellipse">
            <a:avLst/>
          </a:prstGeom>
          <a:solidFill>
            <a:srgbClr val="132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300" spc="-1" strike="noStrike">
                <a:solidFill>
                  <a:srgbClr val="00e5ff"/>
                </a:solidFill>
                <a:latin typeface="Arial"/>
              </a:rPr>
              <a:t>6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Box 25"/>
          <p:cNvSpPr/>
          <p:nvPr/>
        </p:nvSpPr>
        <p:spPr>
          <a:xfrm>
            <a:off x="6284880" y="3712320"/>
            <a:ext cx="2145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1250" spc="-1" strike="noStrike">
                <a:solidFill>
                  <a:srgbClr val="e8e8f0"/>
                </a:solidFill>
                <a:latin typeface="Arial"/>
              </a:rPr>
              <a:t>Space Grotesk / JetBrains Mono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26"/>
          <p:cNvSpPr/>
          <p:nvPr/>
        </p:nvSpPr>
        <p:spPr>
          <a:xfrm>
            <a:off x="6284880" y="4023360"/>
            <a:ext cx="21456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IN" sz="950" spc="-1" strike="noStrike">
                <a:solidFill>
                  <a:srgbClr val="7a7a9a"/>
                </a:solidFill>
                <a:latin typeface="Arial"/>
              </a:rPr>
              <a:t>Typography system for a clean, modern product feel.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27"/>
          <p:cNvSpPr/>
          <p:nvPr/>
        </p:nvSpPr>
        <p:spPr>
          <a:xfrm>
            <a:off x="548640" y="4800600"/>
            <a:ext cx="5486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IN" sz="800" spc="-1" strike="noStrike">
                <a:solidFill>
                  <a:srgbClr val="7a7a9a"/>
                </a:solidFill>
                <a:latin typeface="Arial"/>
              </a:rPr>
              <a:t>Shreya Chopra  ·  FacePrep Internship Project  ·  HireTrack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"/>
          <p:cNvSpPr/>
          <p:nvPr/>
        </p:nvSpPr>
        <p:spPr>
          <a:xfrm>
            <a:off x="548640" y="457200"/>
            <a:ext cx="80463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1100" spc="148" strike="noStrike">
                <a:solidFill>
                  <a:srgbClr val="00e5ff"/>
                </a:solidFill>
                <a:latin typeface="Arial"/>
              </a:rPr>
              <a:t>HOW IT WAS BUILT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548640" y="804600"/>
            <a:ext cx="80463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3200" spc="-1" strike="noStrike">
                <a:solidFill>
                  <a:srgbClr val="e8e8f0"/>
                </a:solidFill>
                <a:latin typeface="Arial"/>
              </a:rPr>
              <a:t>Implementation Process</a:t>
            </a: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Rounded Rectangle 3"/>
          <p:cNvSpPr/>
          <p:nvPr/>
        </p:nvSpPr>
        <p:spPr>
          <a:xfrm>
            <a:off x="548640" y="1554480"/>
            <a:ext cx="1819440" cy="2834280"/>
          </a:xfrm>
          <a:prstGeom prst="roundRect">
            <a:avLst>
              <a:gd name="adj" fmla="val 6000"/>
            </a:avLst>
          </a:prstGeom>
          <a:solidFill>
            <a:srgbClr val="16161f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4"/>
          <p:cNvSpPr/>
          <p:nvPr/>
        </p:nvSpPr>
        <p:spPr>
          <a:xfrm>
            <a:off x="731520" y="1737360"/>
            <a:ext cx="145368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2600" spc="-1" strike="noStrike">
                <a:solidFill>
                  <a:srgbClr val="2a2a38"/>
                </a:solidFill>
                <a:latin typeface="Arial"/>
              </a:rPr>
              <a:t>01</a:t>
            </a:r>
            <a:endParaRPr b="0" lang="en-IN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Box 5"/>
          <p:cNvSpPr/>
          <p:nvPr/>
        </p:nvSpPr>
        <p:spPr>
          <a:xfrm>
            <a:off x="731520" y="2240280"/>
            <a:ext cx="145368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e5ff"/>
                </a:solidFill>
                <a:latin typeface="Arial"/>
              </a:rPr>
              <a:t>Research &amp; Planning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Box 6"/>
          <p:cNvSpPr/>
          <p:nvPr/>
        </p:nvSpPr>
        <p:spPr>
          <a:xfrm>
            <a:off x="731520" y="2743200"/>
            <a:ext cx="1453680" cy="7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e8e8f0"/>
                </a:solidFill>
                <a:latin typeface="Arial"/>
              </a:rPr>
              <a:t>Studied recruitment gaps across early-stage startups; scoped 5 core modules and the data model.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Chevron 7"/>
          <p:cNvSpPr/>
          <p:nvPr/>
        </p:nvSpPr>
        <p:spPr>
          <a:xfrm>
            <a:off x="2350080" y="2862000"/>
            <a:ext cx="255600" cy="219240"/>
          </a:xfrm>
          <a:prstGeom prst="chevron">
            <a:avLst>
              <a:gd name="adj" fmla="val 50000"/>
            </a:avLst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Rounded Rectangle 8"/>
          <p:cNvSpPr/>
          <p:nvPr/>
        </p:nvSpPr>
        <p:spPr>
          <a:xfrm>
            <a:off x="2624400" y="1554480"/>
            <a:ext cx="1819440" cy="2834280"/>
          </a:xfrm>
          <a:prstGeom prst="roundRect">
            <a:avLst>
              <a:gd name="adj" fmla="val 6000"/>
            </a:avLst>
          </a:prstGeom>
          <a:solidFill>
            <a:srgbClr val="16161f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9"/>
          <p:cNvSpPr/>
          <p:nvPr/>
        </p:nvSpPr>
        <p:spPr>
          <a:xfrm>
            <a:off x="2807280" y="1737360"/>
            <a:ext cx="145368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2600" spc="-1" strike="noStrike">
                <a:solidFill>
                  <a:srgbClr val="2a2a38"/>
                </a:solidFill>
                <a:latin typeface="Arial"/>
              </a:rPr>
              <a:t>02</a:t>
            </a:r>
            <a:endParaRPr b="0" lang="en-IN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2807280" y="2240280"/>
            <a:ext cx="145368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e5ff"/>
                </a:solidFill>
                <a:latin typeface="Arial"/>
              </a:rPr>
              <a:t>Excel ATS Development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11"/>
          <p:cNvSpPr/>
          <p:nvPr/>
        </p:nvSpPr>
        <p:spPr>
          <a:xfrm>
            <a:off x="2807280" y="2743200"/>
            <a:ext cx="1453680" cy="7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e8e8f0"/>
                </a:solidFill>
                <a:latin typeface="Arial"/>
              </a:rPr>
              <a:t>Built Candidate Database, Pipeline Tracker, Interview Log and Recruiter Metrics with 38 live formulas.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Chevron 12"/>
          <p:cNvSpPr/>
          <p:nvPr/>
        </p:nvSpPr>
        <p:spPr>
          <a:xfrm>
            <a:off x="4425840" y="2862000"/>
            <a:ext cx="255600" cy="219240"/>
          </a:xfrm>
          <a:prstGeom prst="chevron">
            <a:avLst>
              <a:gd name="adj" fmla="val 50000"/>
            </a:avLst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Rounded Rectangle 13"/>
          <p:cNvSpPr/>
          <p:nvPr/>
        </p:nvSpPr>
        <p:spPr>
          <a:xfrm>
            <a:off x="4700160" y="1554480"/>
            <a:ext cx="1819440" cy="2834280"/>
          </a:xfrm>
          <a:prstGeom prst="roundRect">
            <a:avLst>
              <a:gd name="adj" fmla="val 6000"/>
            </a:avLst>
          </a:prstGeom>
          <a:solidFill>
            <a:srgbClr val="16161f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TextBox 14"/>
          <p:cNvSpPr/>
          <p:nvPr/>
        </p:nvSpPr>
        <p:spPr>
          <a:xfrm>
            <a:off x="4883040" y="1737360"/>
            <a:ext cx="145368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2600" spc="-1" strike="noStrike">
                <a:solidFill>
                  <a:srgbClr val="2a2a38"/>
                </a:solidFill>
                <a:latin typeface="Arial"/>
              </a:rPr>
              <a:t>03</a:t>
            </a:r>
            <a:endParaRPr b="0" lang="en-IN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Box 15"/>
          <p:cNvSpPr/>
          <p:nvPr/>
        </p:nvSpPr>
        <p:spPr>
          <a:xfrm>
            <a:off x="4883040" y="2240280"/>
            <a:ext cx="145368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e5ff"/>
                </a:solidFill>
                <a:latin typeface="Arial"/>
              </a:rPr>
              <a:t>Dashboard &amp; Web App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Box 16"/>
          <p:cNvSpPr/>
          <p:nvPr/>
        </p:nvSpPr>
        <p:spPr>
          <a:xfrm>
            <a:off x="4883040" y="2743200"/>
            <a:ext cx="1453680" cy="7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e8e8f0"/>
                </a:solidFill>
                <a:latin typeface="Arial"/>
              </a:rPr>
              <a:t>Designed the auto-updating KPI dashboard in Excel and coded a browser-based live tracker in HTML/CSS/JS.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Chevron 17"/>
          <p:cNvSpPr/>
          <p:nvPr/>
        </p:nvSpPr>
        <p:spPr>
          <a:xfrm>
            <a:off x="6501240" y="2862000"/>
            <a:ext cx="255600" cy="219240"/>
          </a:xfrm>
          <a:prstGeom prst="chevron">
            <a:avLst>
              <a:gd name="adj" fmla="val 50000"/>
            </a:avLst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Rounded Rectangle 18"/>
          <p:cNvSpPr/>
          <p:nvPr/>
        </p:nvSpPr>
        <p:spPr>
          <a:xfrm>
            <a:off x="6775560" y="1554480"/>
            <a:ext cx="1819440" cy="2834280"/>
          </a:xfrm>
          <a:prstGeom prst="roundRect">
            <a:avLst>
              <a:gd name="adj" fmla="val 6000"/>
            </a:avLst>
          </a:prstGeom>
          <a:solidFill>
            <a:srgbClr val="16161f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TextBox 19"/>
          <p:cNvSpPr/>
          <p:nvPr/>
        </p:nvSpPr>
        <p:spPr>
          <a:xfrm>
            <a:off x="6958440" y="1737360"/>
            <a:ext cx="145368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2600" spc="-1" strike="noStrike">
                <a:solidFill>
                  <a:srgbClr val="2a2a38"/>
                </a:solidFill>
                <a:latin typeface="Arial"/>
              </a:rPr>
              <a:t>04</a:t>
            </a:r>
            <a:endParaRPr b="0" lang="en-IN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Box 20"/>
          <p:cNvSpPr/>
          <p:nvPr/>
        </p:nvSpPr>
        <p:spPr>
          <a:xfrm>
            <a:off x="6958440" y="2240280"/>
            <a:ext cx="145368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e5ff"/>
                </a:solidFill>
                <a:latin typeface="Arial"/>
              </a:rPr>
              <a:t>Testing &amp; Deployment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Box 21"/>
          <p:cNvSpPr/>
          <p:nvPr/>
        </p:nvSpPr>
        <p:spPr>
          <a:xfrm>
            <a:off x="6958440" y="2743200"/>
            <a:ext cx="1453680" cy="6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IN" sz="1000" spc="-1" strike="noStrike">
                <a:solidFill>
                  <a:srgbClr val="e8e8f0"/>
                </a:solidFill>
                <a:latin typeface="Arial"/>
              </a:rPr>
              <a:t>Validated with 20 sample candidates, fixed formula errors, and deployed the website to GitHub Pages.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Rounded Rectangle 22"/>
          <p:cNvSpPr/>
          <p:nvPr/>
        </p:nvSpPr>
        <p:spPr>
          <a:xfrm>
            <a:off x="548640" y="4572000"/>
            <a:ext cx="8046360" cy="411120"/>
          </a:xfrm>
          <a:prstGeom prst="roundRect">
            <a:avLst>
              <a:gd name="adj" fmla="val 6000"/>
            </a:avLst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23"/>
          <p:cNvSpPr/>
          <p:nvPr/>
        </p:nvSpPr>
        <p:spPr>
          <a:xfrm>
            <a:off x="822960" y="4645080"/>
            <a:ext cx="74977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i="1" lang="en-IN" sz="1100" spc="-1" strike="noStrike">
                <a:solidFill>
                  <a:srgbClr val="ffd60a"/>
                </a:solidFill>
                <a:latin typeface="Arial"/>
              </a:rPr>
              <a:t>Built solo in 3 weeks — from problem research to a working, presentable product.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457200" y="3474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e8e8f0"/>
                </a:solidFill>
                <a:latin typeface="Arial"/>
                <a:ea typeface="Arial"/>
              </a:rPr>
              <a:t>What's </a:t>
            </a:r>
            <a:r>
              <a:rPr b="1" lang="en-US" sz="2600" spc="-1" strike="noStrike">
                <a:solidFill>
                  <a:srgbClr val="00e5ff"/>
                </a:solidFill>
                <a:latin typeface="Arial"/>
                <a:ea typeface="Arial"/>
              </a:rPr>
              <a:t>Done</a:t>
            </a:r>
            <a:endParaRPr b="0" lang="en-IN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1"/>
          <p:cNvSpPr/>
          <p:nvPr/>
        </p:nvSpPr>
        <p:spPr>
          <a:xfrm>
            <a:off x="457200" y="1005840"/>
            <a:ext cx="8229600" cy="360"/>
          </a:xfrm>
          <a:prstGeom prst="line">
            <a:avLst/>
          </a:prstGeom>
          <a:ln w="1524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2"/>
          <p:cNvSpPr/>
          <p:nvPr/>
        </p:nvSpPr>
        <p:spPr>
          <a:xfrm>
            <a:off x="365760" y="1024200"/>
            <a:ext cx="4114080" cy="621000"/>
          </a:xfrm>
          <a:prstGeom prst="roundRect">
            <a:avLst>
              <a:gd name="adj" fmla="val 14706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3"/>
          <p:cNvSpPr/>
          <p:nvPr/>
        </p:nvSpPr>
        <p:spPr>
          <a:xfrm>
            <a:off x="511920" y="1207080"/>
            <a:ext cx="255240" cy="2552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4"/>
          <p:cNvSpPr/>
          <p:nvPr/>
        </p:nvSpPr>
        <p:spPr>
          <a:xfrm>
            <a:off x="511920" y="118872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0a0f"/>
                </a:solidFill>
                <a:latin typeface="Arial"/>
                <a:ea typeface="Arial"/>
              </a:rPr>
              <a:t>✓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877680" y="1161360"/>
            <a:ext cx="3437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Arial"/>
                <a:ea typeface="Arial"/>
              </a:rPr>
              <a:t>Problem research &amp; competitive analysis completed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6"/>
          <p:cNvSpPr/>
          <p:nvPr/>
        </p:nvSpPr>
        <p:spPr>
          <a:xfrm>
            <a:off x="365760" y="1774080"/>
            <a:ext cx="4114080" cy="621000"/>
          </a:xfrm>
          <a:prstGeom prst="roundRect">
            <a:avLst>
              <a:gd name="adj" fmla="val 14706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7"/>
          <p:cNvSpPr/>
          <p:nvPr/>
        </p:nvSpPr>
        <p:spPr>
          <a:xfrm>
            <a:off x="511920" y="1956960"/>
            <a:ext cx="255240" cy="2552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8"/>
          <p:cNvSpPr/>
          <p:nvPr/>
        </p:nvSpPr>
        <p:spPr>
          <a:xfrm>
            <a:off x="511920" y="193860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0a0f"/>
                </a:solidFill>
                <a:latin typeface="Arial"/>
                <a:ea typeface="Arial"/>
              </a:rPr>
              <a:t>✓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9"/>
          <p:cNvSpPr/>
          <p:nvPr/>
        </p:nvSpPr>
        <p:spPr>
          <a:xfrm>
            <a:off x="877680" y="1911240"/>
            <a:ext cx="3437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Arial"/>
                <a:ea typeface="Arial"/>
              </a:rPr>
              <a:t>Full project presentation built 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10"/>
          <p:cNvSpPr/>
          <p:nvPr/>
        </p:nvSpPr>
        <p:spPr>
          <a:xfrm>
            <a:off x="365760" y="2523600"/>
            <a:ext cx="4114080" cy="621000"/>
          </a:xfrm>
          <a:prstGeom prst="roundRect">
            <a:avLst>
              <a:gd name="adj" fmla="val 14706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11"/>
          <p:cNvSpPr/>
          <p:nvPr/>
        </p:nvSpPr>
        <p:spPr>
          <a:xfrm>
            <a:off x="511920" y="2706480"/>
            <a:ext cx="255240" cy="2552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2"/>
          <p:cNvSpPr/>
          <p:nvPr/>
        </p:nvSpPr>
        <p:spPr>
          <a:xfrm>
            <a:off x="511920" y="268848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0a0f"/>
                </a:solidFill>
                <a:latin typeface="Arial"/>
                <a:ea typeface="Arial"/>
              </a:rPr>
              <a:t>✓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13"/>
          <p:cNvSpPr/>
          <p:nvPr/>
        </p:nvSpPr>
        <p:spPr>
          <a:xfrm>
            <a:off x="877680" y="2660760"/>
            <a:ext cx="3437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Arial"/>
                <a:ea typeface="Arial"/>
              </a:rPr>
              <a:t>Excel ATS with 5 sheets, 38 live formulas, zero errors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14"/>
          <p:cNvSpPr/>
          <p:nvPr/>
        </p:nvSpPr>
        <p:spPr>
          <a:xfrm>
            <a:off x="365760" y="3273480"/>
            <a:ext cx="4114080" cy="621000"/>
          </a:xfrm>
          <a:prstGeom prst="roundRect">
            <a:avLst>
              <a:gd name="adj" fmla="val 14706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15"/>
          <p:cNvSpPr/>
          <p:nvPr/>
        </p:nvSpPr>
        <p:spPr>
          <a:xfrm>
            <a:off x="511920" y="3456360"/>
            <a:ext cx="255240" cy="2552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6"/>
          <p:cNvSpPr/>
          <p:nvPr/>
        </p:nvSpPr>
        <p:spPr>
          <a:xfrm>
            <a:off x="511920" y="343800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0a0f"/>
                </a:solidFill>
                <a:latin typeface="Arial"/>
                <a:ea typeface="Arial"/>
              </a:rPr>
              <a:t>✓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17"/>
          <p:cNvSpPr/>
          <p:nvPr/>
        </p:nvSpPr>
        <p:spPr>
          <a:xfrm>
            <a:off x="877680" y="3410640"/>
            <a:ext cx="3437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Arial"/>
                <a:ea typeface="Arial"/>
              </a:rPr>
              <a:t>Candidate Database with 20 sample entries &amp; dropdowns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18"/>
          <p:cNvSpPr/>
          <p:nvPr/>
        </p:nvSpPr>
        <p:spPr>
          <a:xfrm>
            <a:off x="365760" y="4023360"/>
            <a:ext cx="4114080" cy="621000"/>
          </a:xfrm>
          <a:prstGeom prst="roundRect">
            <a:avLst>
              <a:gd name="adj" fmla="val 14706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19"/>
          <p:cNvSpPr/>
          <p:nvPr/>
        </p:nvSpPr>
        <p:spPr>
          <a:xfrm>
            <a:off x="511920" y="4206240"/>
            <a:ext cx="255240" cy="2552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20"/>
          <p:cNvSpPr/>
          <p:nvPr/>
        </p:nvSpPr>
        <p:spPr>
          <a:xfrm>
            <a:off x="511920" y="418788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0a0f"/>
                </a:solidFill>
                <a:latin typeface="Arial"/>
                <a:ea typeface="Arial"/>
              </a:rPr>
              <a:t>✓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21"/>
          <p:cNvSpPr/>
          <p:nvPr/>
        </p:nvSpPr>
        <p:spPr>
          <a:xfrm>
            <a:off x="877680" y="4160520"/>
            <a:ext cx="3437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Arial"/>
                <a:ea typeface="Arial"/>
              </a:rPr>
              <a:t>Pipeline Tracker with visual stage checkmarks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22"/>
          <p:cNvSpPr/>
          <p:nvPr/>
        </p:nvSpPr>
        <p:spPr>
          <a:xfrm>
            <a:off x="4663440" y="1024200"/>
            <a:ext cx="4114080" cy="621000"/>
          </a:xfrm>
          <a:prstGeom prst="roundRect">
            <a:avLst>
              <a:gd name="adj" fmla="val 14706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23"/>
          <p:cNvSpPr/>
          <p:nvPr/>
        </p:nvSpPr>
        <p:spPr>
          <a:xfrm>
            <a:off x="4809600" y="1207080"/>
            <a:ext cx="255240" cy="2552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24"/>
          <p:cNvSpPr/>
          <p:nvPr/>
        </p:nvSpPr>
        <p:spPr>
          <a:xfrm>
            <a:off x="4809600" y="118872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0a0f"/>
                </a:solidFill>
                <a:latin typeface="Arial"/>
                <a:ea typeface="Arial"/>
              </a:rPr>
              <a:t>✓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25"/>
          <p:cNvSpPr/>
          <p:nvPr/>
        </p:nvSpPr>
        <p:spPr>
          <a:xfrm>
            <a:off x="5175360" y="1161360"/>
            <a:ext cx="3437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Arial"/>
                <a:ea typeface="Arial"/>
              </a:rPr>
              <a:t>Interview Log with star ratings &amp; color-coded outcomes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26"/>
          <p:cNvSpPr/>
          <p:nvPr/>
        </p:nvSpPr>
        <p:spPr>
          <a:xfrm>
            <a:off x="4663440" y="1774080"/>
            <a:ext cx="4114080" cy="621000"/>
          </a:xfrm>
          <a:prstGeom prst="roundRect">
            <a:avLst>
              <a:gd name="adj" fmla="val 14706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27"/>
          <p:cNvSpPr/>
          <p:nvPr/>
        </p:nvSpPr>
        <p:spPr>
          <a:xfrm>
            <a:off x="4809600" y="1956960"/>
            <a:ext cx="255240" cy="2552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28"/>
          <p:cNvSpPr/>
          <p:nvPr/>
        </p:nvSpPr>
        <p:spPr>
          <a:xfrm>
            <a:off x="4809600" y="193860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0a0f"/>
                </a:solidFill>
                <a:latin typeface="Arial"/>
                <a:ea typeface="Arial"/>
              </a:rPr>
              <a:t>✓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29"/>
          <p:cNvSpPr/>
          <p:nvPr/>
        </p:nvSpPr>
        <p:spPr>
          <a:xfrm>
            <a:off x="5175360" y="1911240"/>
            <a:ext cx="3437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Arial"/>
                <a:ea typeface="Arial"/>
              </a:rPr>
              <a:t>Recruiter Metrics sheet with KPI cards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30"/>
          <p:cNvSpPr/>
          <p:nvPr/>
        </p:nvSpPr>
        <p:spPr>
          <a:xfrm>
            <a:off x="4663440" y="2523600"/>
            <a:ext cx="4114080" cy="621000"/>
          </a:xfrm>
          <a:prstGeom prst="roundRect">
            <a:avLst>
              <a:gd name="adj" fmla="val 14706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31"/>
          <p:cNvSpPr/>
          <p:nvPr/>
        </p:nvSpPr>
        <p:spPr>
          <a:xfrm>
            <a:off x="4809600" y="2706480"/>
            <a:ext cx="255240" cy="2552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32"/>
          <p:cNvSpPr/>
          <p:nvPr/>
        </p:nvSpPr>
        <p:spPr>
          <a:xfrm>
            <a:off x="4809600" y="268848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0a0f"/>
                </a:solidFill>
                <a:latin typeface="Arial"/>
                <a:ea typeface="Arial"/>
              </a:rPr>
              <a:t>✓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33"/>
          <p:cNvSpPr/>
          <p:nvPr/>
        </p:nvSpPr>
        <p:spPr>
          <a:xfrm>
            <a:off x="5175360" y="2660760"/>
            <a:ext cx="3437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Arial"/>
                <a:ea typeface="Arial"/>
              </a:rPr>
              <a:t>Excel Dashboard with bar chart + pie chart 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34"/>
          <p:cNvSpPr/>
          <p:nvPr/>
        </p:nvSpPr>
        <p:spPr>
          <a:xfrm>
            <a:off x="4663440" y="3273480"/>
            <a:ext cx="4114080" cy="621000"/>
          </a:xfrm>
          <a:prstGeom prst="roundRect">
            <a:avLst>
              <a:gd name="adj" fmla="val 14706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35"/>
          <p:cNvSpPr/>
          <p:nvPr/>
        </p:nvSpPr>
        <p:spPr>
          <a:xfrm>
            <a:off x="4809600" y="3456360"/>
            <a:ext cx="255240" cy="2552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36"/>
          <p:cNvSpPr/>
          <p:nvPr/>
        </p:nvSpPr>
        <p:spPr>
          <a:xfrm>
            <a:off x="4809600" y="343800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0a0f"/>
                </a:solidFill>
                <a:latin typeface="Arial"/>
                <a:ea typeface="Arial"/>
              </a:rPr>
              <a:t>✓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37"/>
          <p:cNvSpPr/>
          <p:nvPr/>
        </p:nvSpPr>
        <p:spPr>
          <a:xfrm>
            <a:off x="5175360" y="3410640"/>
            <a:ext cx="3437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Arial"/>
                <a:ea typeface="Arial"/>
              </a:rPr>
              <a:t>Website landing page designed &amp; coded (HTML/CSS/JS)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38"/>
          <p:cNvSpPr/>
          <p:nvPr/>
        </p:nvSpPr>
        <p:spPr>
          <a:xfrm>
            <a:off x="4663440" y="4023360"/>
            <a:ext cx="4114080" cy="621000"/>
          </a:xfrm>
          <a:prstGeom prst="roundRect">
            <a:avLst>
              <a:gd name="adj" fmla="val 14706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39"/>
          <p:cNvSpPr/>
          <p:nvPr/>
        </p:nvSpPr>
        <p:spPr>
          <a:xfrm>
            <a:off x="4809600" y="4206240"/>
            <a:ext cx="255240" cy="25524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40"/>
          <p:cNvSpPr/>
          <p:nvPr/>
        </p:nvSpPr>
        <p:spPr>
          <a:xfrm>
            <a:off x="4809600" y="418788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a0a0f"/>
                </a:solidFill>
                <a:latin typeface="Arial"/>
                <a:ea typeface="Arial"/>
              </a:rPr>
              <a:t>✓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41"/>
          <p:cNvSpPr/>
          <p:nvPr/>
        </p:nvSpPr>
        <p:spPr>
          <a:xfrm>
            <a:off x="5175360" y="4160520"/>
            <a:ext cx="3437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e8f0"/>
                </a:solidFill>
                <a:latin typeface="Arial"/>
                <a:ea typeface="Arial"/>
              </a:rPr>
              <a:t>Live browser-based candidate tracker (add/edit/delete)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1"/>
          <p:cNvSpPr/>
          <p:nvPr/>
        </p:nvSpPr>
        <p:spPr>
          <a:xfrm>
            <a:off x="548640" y="457200"/>
            <a:ext cx="80463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1100" spc="148" strike="noStrike">
                <a:solidFill>
                  <a:srgbClr val="00e5ff"/>
                </a:solidFill>
                <a:latin typeface="Arial"/>
              </a:rPr>
              <a:t>SEE IT IN ACTION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Box 2"/>
          <p:cNvSpPr/>
          <p:nvPr/>
        </p:nvSpPr>
        <p:spPr>
          <a:xfrm>
            <a:off x="548640" y="804600"/>
            <a:ext cx="80463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3200" spc="-1" strike="noStrike">
                <a:solidFill>
                  <a:srgbClr val="e8e8f0"/>
                </a:solidFill>
                <a:latin typeface="Arial"/>
              </a:rPr>
              <a:t>HireTrack Website &amp; Live Tracker</a:t>
            </a: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Rounded Rectangle 3"/>
          <p:cNvSpPr/>
          <p:nvPr/>
        </p:nvSpPr>
        <p:spPr>
          <a:xfrm>
            <a:off x="548640" y="1417320"/>
            <a:ext cx="3885840" cy="2331360"/>
          </a:xfrm>
          <a:prstGeom prst="roundRect">
            <a:avLst>
              <a:gd name="adj" fmla="val 6000"/>
            </a:avLst>
          </a:prstGeom>
          <a:solidFill>
            <a:srgbClr val="16161f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5"/>
          <p:cNvSpPr/>
          <p:nvPr/>
        </p:nvSpPr>
        <p:spPr>
          <a:xfrm>
            <a:off x="548640" y="3858840"/>
            <a:ext cx="38858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IN" sz="1050" spc="-1" strike="noStrike">
                <a:solidFill>
                  <a:srgbClr val="7a7a9a"/>
                </a:solidFill>
                <a:latin typeface="Arial"/>
              </a:rPr>
              <a:t>Landing page </a:t>
            </a:r>
            <a:endParaRPr b="0" lang="en-IN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Rounded Rectangle 6"/>
          <p:cNvSpPr/>
          <p:nvPr/>
        </p:nvSpPr>
        <p:spPr>
          <a:xfrm>
            <a:off x="4709160" y="1417320"/>
            <a:ext cx="3885840" cy="2331360"/>
          </a:xfrm>
          <a:prstGeom prst="roundRect">
            <a:avLst>
              <a:gd name="adj" fmla="val 6000"/>
            </a:avLst>
          </a:prstGeom>
          <a:solidFill>
            <a:srgbClr val="16161f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8"/>
          <p:cNvSpPr/>
          <p:nvPr/>
        </p:nvSpPr>
        <p:spPr>
          <a:xfrm>
            <a:off x="4709160" y="3858840"/>
            <a:ext cx="38858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IN" sz="1050" spc="-1" strike="noStrike">
                <a:solidFill>
                  <a:srgbClr val="7a7a9a"/>
                </a:solidFill>
                <a:latin typeface="Arial"/>
              </a:rPr>
              <a:t>Live browser-based candidate tracker</a:t>
            </a:r>
            <a:endParaRPr b="0" lang="en-IN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Box 9"/>
          <p:cNvSpPr/>
          <p:nvPr/>
        </p:nvSpPr>
        <p:spPr>
          <a:xfrm>
            <a:off x="548640" y="4800600"/>
            <a:ext cx="5486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IN" sz="800" spc="-1" strike="noStrike">
                <a:solidFill>
                  <a:srgbClr val="7a7a9a"/>
                </a:solidFill>
                <a:latin typeface="Arial"/>
              </a:rPr>
              <a:t>Shreya Chopra  ·  FacePrep Internship Project  ·  HireTrack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4" name="" descr=""/>
          <p:cNvPicPr/>
          <p:nvPr/>
        </p:nvPicPr>
        <p:blipFill>
          <a:blip r:embed="rId1"/>
          <a:stretch/>
        </p:blipFill>
        <p:spPr>
          <a:xfrm rot="30000">
            <a:off x="709920" y="1432800"/>
            <a:ext cx="3600000" cy="2228760"/>
          </a:xfrm>
          <a:prstGeom prst="rect">
            <a:avLst/>
          </a:prstGeom>
          <a:ln w="0">
            <a:noFill/>
          </a:ln>
        </p:spPr>
      </p:pic>
      <p:pic>
        <p:nvPicPr>
          <p:cNvPr id="225" name="" descr=""/>
          <p:cNvPicPr/>
          <p:nvPr/>
        </p:nvPicPr>
        <p:blipFill>
          <a:blip r:embed="rId2"/>
          <a:stretch/>
        </p:blipFill>
        <p:spPr>
          <a:xfrm>
            <a:off x="4748400" y="1620000"/>
            <a:ext cx="3846600" cy="2128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1"/>
          <p:cNvSpPr/>
          <p:nvPr/>
        </p:nvSpPr>
        <p:spPr>
          <a:xfrm>
            <a:off x="548640" y="457200"/>
            <a:ext cx="80463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1100" spc="148" strike="noStrike">
                <a:solidFill>
                  <a:srgbClr val="00e5ff"/>
                </a:solidFill>
                <a:latin typeface="Arial"/>
              </a:rPr>
              <a:t>SEE IT IN ACTION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Box 2"/>
          <p:cNvSpPr/>
          <p:nvPr/>
        </p:nvSpPr>
        <p:spPr>
          <a:xfrm>
            <a:off x="548640" y="804600"/>
            <a:ext cx="804636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IN" sz="3200" spc="-1" strike="noStrike">
                <a:solidFill>
                  <a:srgbClr val="e8e8f0"/>
                </a:solidFill>
                <a:latin typeface="Arial"/>
              </a:rPr>
              <a:t>Excel ATS — Core Modules</a:t>
            </a: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Rounded Rectangle 3"/>
          <p:cNvSpPr/>
          <p:nvPr/>
        </p:nvSpPr>
        <p:spPr>
          <a:xfrm>
            <a:off x="457200" y="1417320"/>
            <a:ext cx="1885680" cy="2880000"/>
          </a:xfrm>
          <a:prstGeom prst="roundRect">
            <a:avLst>
              <a:gd name="adj" fmla="val 6000"/>
            </a:avLst>
          </a:prstGeom>
          <a:solidFill>
            <a:srgbClr val="16161f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9" name="Picture 4" descr="crop_candidates.jpg"/>
          <p:cNvPicPr/>
          <p:nvPr/>
        </p:nvPicPr>
        <p:blipFill>
          <a:blip r:embed="rId1"/>
          <a:stretch/>
        </p:blipFill>
        <p:spPr>
          <a:xfrm>
            <a:off x="530280" y="1798200"/>
            <a:ext cx="1739160" cy="1798560"/>
          </a:xfrm>
          <a:prstGeom prst="rect">
            <a:avLst/>
          </a:prstGeom>
          <a:ln w="0">
            <a:noFill/>
          </a:ln>
        </p:spPr>
      </p:pic>
      <p:sp>
        <p:nvSpPr>
          <p:cNvPr id="230" name="TextBox 5"/>
          <p:cNvSpPr/>
          <p:nvPr/>
        </p:nvSpPr>
        <p:spPr>
          <a:xfrm>
            <a:off x="530280" y="3950280"/>
            <a:ext cx="17391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IN" sz="950" spc="-1" strike="noStrike">
                <a:solidFill>
                  <a:srgbClr val="e8e8f0"/>
                </a:solidFill>
                <a:latin typeface="Arial"/>
              </a:rPr>
              <a:t>Candidate Database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Rounded Rectangle 6"/>
          <p:cNvSpPr/>
          <p:nvPr/>
        </p:nvSpPr>
        <p:spPr>
          <a:xfrm>
            <a:off x="2571840" y="1417320"/>
            <a:ext cx="1885680" cy="2880000"/>
          </a:xfrm>
          <a:prstGeom prst="roundRect">
            <a:avLst>
              <a:gd name="adj" fmla="val 6000"/>
            </a:avLst>
          </a:prstGeom>
          <a:solidFill>
            <a:srgbClr val="16161f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2" name="Picture 7" descr="crop_pipeline.jpg"/>
          <p:cNvPicPr/>
          <p:nvPr/>
        </p:nvPicPr>
        <p:blipFill>
          <a:blip r:embed="rId2"/>
          <a:stretch/>
        </p:blipFill>
        <p:spPr>
          <a:xfrm>
            <a:off x="2644920" y="2090520"/>
            <a:ext cx="1739160" cy="1213560"/>
          </a:xfrm>
          <a:prstGeom prst="rect">
            <a:avLst/>
          </a:prstGeom>
          <a:ln w="0">
            <a:noFill/>
          </a:ln>
        </p:spPr>
      </p:pic>
      <p:sp>
        <p:nvSpPr>
          <p:cNvPr id="233" name="TextBox 8"/>
          <p:cNvSpPr/>
          <p:nvPr/>
        </p:nvSpPr>
        <p:spPr>
          <a:xfrm>
            <a:off x="2644920" y="3950280"/>
            <a:ext cx="17391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IN" sz="950" spc="-1" strike="noStrike">
                <a:solidFill>
                  <a:srgbClr val="e8e8f0"/>
                </a:solidFill>
                <a:latin typeface="Arial"/>
              </a:rPr>
              <a:t>Pipeline / Status Tracker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Rounded Rectangle 9"/>
          <p:cNvSpPr/>
          <p:nvPr/>
        </p:nvSpPr>
        <p:spPr>
          <a:xfrm>
            <a:off x="4686480" y="1417320"/>
            <a:ext cx="1885680" cy="2880000"/>
          </a:xfrm>
          <a:prstGeom prst="roundRect">
            <a:avLst>
              <a:gd name="adj" fmla="val 6000"/>
            </a:avLst>
          </a:prstGeom>
          <a:solidFill>
            <a:srgbClr val="16161f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5" name="Picture 10" descr="crop_interview2.jpg"/>
          <p:cNvPicPr/>
          <p:nvPr/>
        </p:nvPicPr>
        <p:blipFill>
          <a:blip r:embed="rId3"/>
          <a:stretch/>
        </p:blipFill>
        <p:spPr>
          <a:xfrm>
            <a:off x="5135760" y="1508760"/>
            <a:ext cx="986400" cy="2377080"/>
          </a:xfrm>
          <a:prstGeom prst="rect">
            <a:avLst/>
          </a:prstGeom>
          <a:ln w="0">
            <a:noFill/>
          </a:ln>
        </p:spPr>
      </p:pic>
      <p:sp>
        <p:nvSpPr>
          <p:cNvPr id="236" name="TextBox 11"/>
          <p:cNvSpPr/>
          <p:nvPr/>
        </p:nvSpPr>
        <p:spPr>
          <a:xfrm>
            <a:off x="4759560" y="3950280"/>
            <a:ext cx="17391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IN" sz="950" spc="-1" strike="noStrike">
                <a:solidFill>
                  <a:srgbClr val="e8e8f0"/>
                </a:solidFill>
                <a:latin typeface="Arial"/>
              </a:rPr>
              <a:t>Interview Log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Rounded Rectangle 12"/>
          <p:cNvSpPr/>
          <p:nvPr/>
        </p:nvSpPr>
        <p:spPr>
          <a:xfrm>
            <a:off x="6800760" y="1417320"/>
            <a:ext cx="1885680" cy="2880000"/>
          </a:xfrm>
          <a:prstGeom prst="roundRect">
            <a:avLst>
              <a:gd name="adj" fmla="val 6000"/>
            </a:avLst>
          </a:prstGeom>
          <a:solidFill>
            <a:srgbClr val="16161f"/>
          </a:solidFill>
          <a:ln w="9525"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8" name="Picture 13" descr="crop_dashboard.jpg"/>
          <p:cNvPicPr/>
          <p:nvPr/>
        </p:nvPicPr>
        <p:blipFill>
          <a:blip r:embed="rId4"/>
          <a:stretch/>
        </p:blipFill>
        <p:spPr>
          <a:xfrm>
            <a:off x="6873840" y="1611000"/>
            <a:ext cx="1739160" cy="2172600"/>
          </a:xfrm>
          <a:prstGeom prst="rect">
            <a:avLst/>
          </a:prstGeom>
          <a:ln w="0">
            <a:noFill/>
          </a:ln>
        </p:spPr>
      </p:pic>
      <p:sp>
        <p:nvSpPr>
          <p:cNvPr id="239" name="TextBox 14"/>
          <p:cNvSpPr/>
          <p:nvPr/>
        </p:nvSpPr>
        <p:spPr>
          <a:xfrm>
            <a:off x="6873840" y="3950280"/>
            <a:ext cx="17391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IN" sz="950" spc="-1" strike="noStrike">
                <a:solidFill>
                  <a:srgbClr val="e8e8f0"/>
                </a:solidFill>
                <a:latin typeface="Arial"/>
              </a:rPr>
              <a:t>Live Dashboard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Box 15"/>
          <p:cNvSpPr/>
          <p:nvPr/>
        </p:nvSpPr>
        <p:spPr>
          <a:xfrm>
            <a:off x="548640" y="4800600"/>
            <a:ext cx="5486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IN" sz="800" spc="-1" strike="noStrike">
                <a:solidFill>
                  <a:srgbClr val="7a7a9a"/>
                </a:solidFill>
                <a:latin typeface="Arial"/>
              </a:rPr>
              <a:t>Shreya Chopra  ·  FacePrep Internship Project  ·  HireTrack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0"/>
          <p:cNvSpPr/>
          <p:nvPr/>
        </p:nvSpPr>
        <p:spPr>
          <a:xfrm>
            <a:off x="457200" y="3474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e8e8f0"/>
                </a:solidFill>
                <a:latin typeface="Arial"/>
                <a:ea typeface="Arial"/>
              </a:rPr>
              <a:t>Why Startups </a:t>
            </a:r>
            <a:r>
              <a:rPr b="1" lang="en-US" sz="2600" spc="-1" strike="noStrike">
                <a:solidFill>
                  <a:srgbClr val="00e5ff"/>
                </a:solidFill>
                <a:latin typeface="Arial"/>
                <a:ea typeface="Arial"/>
              </a:rPr>
              <a:t>Will Use This</a:t>
            </a:r>
            <a:endParaRPr b="0" lang="en-IN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1"/>
          <p:cNvSpPr/>
          <p:nvPr/>
        </p:nvSpPr>
        <p:spPr>
          <a:xfrm>
            <a:off x="457200" y="1005840"/>
            <a:ext cx="8229600" cy="360"/>
          </a:xfrm>
          <a:prstGeom prst="line">
            <a:avLst/>
          </a:prstGeom>
          <a:ln w="15240">
            <a:solidFill>
              <a:srgbClr val="00e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2"/>
          <p:cNvSpPr/>
          <p:nvPr/>
        </p:nvSpPr>
        <p:spPr>
          <a:xfrm>
            <a:off x="274320" y="1005840"/>
            <a:ext cx="3976920" cy="3931200"/>
          </a:xfrm>
          <a:prstGeom prst="roundRect">
            <a:avLst>
              <a:gd name="adj" fmla="val 2326"/>
            </a:avLst>
          </a:prstGeom>
          <a:solidFill>
            <a:srgbClr val="16000a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3"/>
          <p:cNvSpPr/>
          <p:nvPr/>
        </p:nvSpPr>
        <p:spPr>
          <a:xfrm>
            <a:off x="411480" y="107892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4" strike="noStrike">
                <a:solidFill>
                  <a:srgbClr val="ff5252"/>
                </a:solidFill>
                <a:latin typeface="Arial"/>
                <a:ea typeface="Arial"/>
              </a:rPr>
              <a:t>WITHOUT HIRETRACK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4"/>
          <p:cNvSpPr/>
          <p:nvPr/>
        </p:nvSpPr>
        <p:spPr>
          <a:xfrm>
            <a:off x="457200" y="1444680"/>
            <a:ext cx="36568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c7777"/>
                </a:solidFill>
                <a:latin typeface="Arial"/>
                <a:ea typeface="Arial"/>
              </a:rPr>
              <a:t>✕  </a:t>
            </a:r>
            <a:r>
              <a:rPr b="0" lang="en-US" sz="950" spc="-1" strike="noStrike">
                <a:solidFill>
                  <a:srgbClr val="cc7777"/>
                </a:solidFill>
                <a:latin typeface="Arial"/>
                <a:ea typeface="Arial"/>
              </a:rPr>
              <a:t>Random Excel files, no structure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5"/>
          <p:cNvSpPr/>
          <p:nvPr/>
        </p:nvSpPr>
        <p:spPr>
          <a:xfrm>
            <a:off x="457200" y="2057400"/>
            <a:ext cx="36568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c7777"/>
                </a:solidFill>
                <a:latin typeface="Arial"/>
                <a:ea typeface="Arial"/>
              </a:rPr>
              <a:t>✕  </a:t>
            </a:r>
            <a:r>
              <a:rPr b="0" lang="en-US" sz="950" spc="-1" strike="noStrike">
                <a:solidFill>
                  <a:srgbClr val="cc7777"/>
                </a:solidFill>
                <a:latin typeface="Arial"/>
                <a:ea typeface="Arial"/>
              </a:rPr>
              <a:t>Candidates fall through cracks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6"/>
          <p:cNvSpPr/>
          <p:nvPr/>
        </p:nvSpPr>
        <p:spPr>
          <a:xfrm>
            <a:off x="457200" y="2670120"/>
            <a:ext cx="36568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c7777"/>
                </a:solidFill>
                <a:latin typeface="Arial"/>
                <a:ea typeface="Arial"/>
              </a:rPr>
              <a:t>✕  </a:t>
            </a:r>
            <a:r>
              <a:rPr b="0" lang="en-US" sz="950" spc="-1" strike="noStrike">
                <a:solidFill>
                  <a:srgbClr val="cc7777"/>
                </a:solidFill>
                <a:latin typeface="Arial"/>
                <a:ea typeface="Arial"/>
              </a:rPr>
              <a:t>No recruiter accountability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7"/>
          <p:cNvSpPr/>
          <p:nvPr/>
        </p:nvSpPr>
        <p:spPr>
          <a:xfrm>
            <a:off x="457200" y="3282840"/>
            <a:ext cx="36568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c7777"/>
                </a:solidFill>
                <a:latin typeface="Arial"/>
                <a:ea typeface="Arial"/>
              </a:rPr>
              <a:t>✕  </a:t>
            </a:r>
            <a:r>
              <a:rPr b="0" lang="en-US" sz="950" spc="-1" strike="noStrike">
                <a:solidFill>
                  <a:srgbClr val="cc7777"/>
                </a:solidFill>
                <a:latin typeface="Arial"/>
                <a:ea typeface="Arial"/>
              </a:rPr>
              <a:t>Founders have zero visibility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457200" y="3895200"/>
            <a:ext cx="36568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c7777"/>
                </a:solidFill>
                <a:latin typeface="Arial"/>
                <a:ea typeface="Arial"/>
              </a:rPr>
              <a:t>✕  </a:t>
            </a:r>
            <a:r>
              <a:rPr b="0" lang="en-US" sz="950" spc="-1" strike="noStrike">
                <a:solidFill>
                  <a:srgbClr val="cc7777"/>
                </a:solidFill>
                <a:latin typeface="Arial"/>
                <a:ea typeface="Arial"/>
              </a:rPr>
              <a:t>Enterprise ATS costs ₹50K+/year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9"/>
          <p:cNvSpPr/>
          <p:nvPr/>
        </p:nvSpPr>
        <p:spPr>
          <a:xfrm>
            <a:off x="4892040" y="1005840"/>
            <a:ext cx="3976920" cy="3931200"/>
          </a:xfrm>
          <a:prstGeom prst="roundRect">
            <a:avLst>
              <a:gd name="adj" fmla="val 2326"/>
            </a:avLst>
          </a:prstGeom>
          <a:solidFill>
            <a:srgbClr val="0a1610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10"/>
          <p:cNvSpPr/>
          <p:nvPr/>
        </p:nvSpPr>
        <p:spPr>
          <a:xfrm>
            <a:off x="5029200" y="107892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4" strike="noStrike">
                <a:solidFill>
                  <a:srgbClr val="00e676"/>
                </a:solidFill>
                <a:latin typeface="Arial"/>
                <a:ea typeface="Arial"/>
              </a:rPr>
              <a:t>WITH HIRETRACK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11"/>
          <p:cNvSpPr/>
          <p:nvPr/>
        </p:nvSpPr>
        <p:spPr>
          <a:xfrm>
            <a:off x="5029200" y="1444680"/>
            <a:ext cx="36568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7cc99"/>
                </a:solidFill>
                <a:latin typeface="Arial"/>
                <a:ea typeface="Arial"/>
              </a:rPr>
              <a:t>✓  </a:t>
            </a:r>
            <a:r>
              <a:rPr b="0" lang="en-US" sz="950" spc="-1" strike="noStrike">
                <a:solidFill>
                  <a:srgbClr val="77cc99"/>
                </a:solidFill>
                <a:latin typeface="Arial"/>
                <a:ea typeface="Arial"/>
              </a:rPr>
              <a:t>One centralized candidate pipeline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12"/>
          <p:cNvSpPr/>
          <p:nvPr/>
        </p:nvSpPr>
        <p:spPr>
          <a:xfrm>
            <a:off x="5029200" y="2057400"/>
            <a:ext cx="36568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7cc99"/>
                </a:solidFill>
                <a:latin typeface="Arial"/>
                <a:ea typeface="Arial"/>
              </a:rPr>
              <a:t>✓  </a:t>
            </a:r>
            <a:r>
              <a:rPr b="0" lang="en-US" sz="950" spc="-1" strike="noStrike">
                <a:solidFill>
                  <a:srgbClr val="77cc99"/>
                </a:solidFill>
                <a:latin typeface="Arial"/>
                <a:ea typeface="Arial"/>
              </a:rPr>
              <a:t>Stage tracker flags every gap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13"/>
          <p:cNvSpPr/>
          <p:nvPr/>
        </p:nvSpPr>
        <p:spPr>
          <a:xfrm>
            <a:off x="5029200" y="2670120"/>
            <a:ext cx="36568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7cc99"/>
                </a:solidFill>
                <a:latin typeface="Arial"/>
                <a:ea typeface="Arial"/>
              </a:rPr>
              <a:t>✓  </a:t>
            </a:r>
            <a:r>
              <a:rPr b="0" lang="en-US" sz="950" spc="-1" strike="noStrike">
                <a:solidFill>
                  <a:srgbClr val="77cc99"/>
                </a:solidFill>
                <a:latin typeface="Arial"/>
                <a:ea typeface="Arial"/>
              </a:rPr>
              <a:t>Per-recruiter KPI metrics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14"/>
          <p:cNvSpPr/>
          <p:nvPr/>
        </p:nvSpPr>
        <p:spPr>
          <a:xfrm>
            <a:off x="5029200" y="3282840"/>
            <a:ext cx="36568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7cc99"/>
                </a:solidFill>
                <a:latin typeface="Arial"/>
                <a:ea typeface="Arial"/>
              </a:rPr>
              <a:t>✓  </a:t>
            </a:r>
            <a:r>
              <a:rPr b="0" lang="en-US" sz="950" spc="-1" strike="noStrike">
                <a:solidFill>
                  <a:srgbClr val="77cc99"/>
                </a:solidFill>
                <a:latin typeface="Arial"/>
                <a:ea typeface="Arial"/>
              </a:rPr>
              <a:t>Live dashboard for leadership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15"/>
          <p:cNvSpPr/>
          <p:nvPr/>
        </p:nvSpPr>
        <p:spPr>
          <a:xfrm>
            <a:off x="5029200" y="3895200"/>
            <a:ext cx="36568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7cc99"/>
                </a:solidFill>
                <a:latin typeface="Arial"/>
                <a:ea typeface="Arial"/>
              </a:rPr>
              <a:t>✓  </a:t>
            </a:r>
            <a:r>
              <a:rPr b="0" lang="en-US" sz="950" spc="-1" strike="noStrike">
                <a:solidFill>
                  <a:srgbClr val="77cc99"/>
                </a:solidFill>
                <a:latin typeface="Arial"/>
                <a:ea typeface="Arial"/>
              </a:rPr>
              <a:t>HireTrack costs ₹0 — runs on Excel</a:t>
            </a:r>
            <a:endParaRPr b="0" lang="en-IN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16"/>
          <p:cNvSpPr/>
          <p:nvPr/>
        </p:nvSpPr>
        <p:spPr>
          <a:xfrm>
            <a:off x="4206240" y="2331720"/>
            <a:ext cx="730800" cy="73080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17"/>
          <p:cNvSpPr/>
          <p:nvPr/>
        </p:nvSpPr>
        <p:spPr>
          <a:xfrm>
            <a:off x="4206240" y="2395800"/>
            <a:ext cx="7308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a0a0f"/>
                </a:solidFill>
                <a:latin typeface="Arial"/>
                <a:ea typeface="Arial"/>
              </a:rPr>
              <a:t>VS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0"/>
          <p:cNvSpPr/>
          <p:nvPr/>
        </p:nvSpPr>
        <p:spPr>
          <a:xfrm>
            <a:off x="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Shape 1"/>
          <p:cNvSpPr/>
          <p:nvPr/>
        </p:nvSpPr>
        <p:spPr>
          <a:xfrm>
            <a:off x="54864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2"/>
          <p:cNvSpPr/>
          <p:nvPr/>
        </p:nvSpPr>
        <p:spPr>
          <a:xfrm>
            <a:off x="109728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3"/>
          <p:cNvSpPr/>
          <p:nvPr/>
        </p:nvSpPr>
        <p:spPr>
          <a:xfrm>
            <a:off x="164592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4"/>
          <p:cNvSpPr/>
          <p:nvPr/>
        </p:nvSpPr>
        <p:spPr>
          <a:xfrm>
            <a:off x="219456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Shape 5"/>
          <p:cNvSpPr/>
          <p:nvPr/>
        </p:nvSpPr>
        <p:spPr>
          <a:xfrm>
            <a:off x="274320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6"/>
          <p:cNvSpPr/>
          <p:nvPr/>
        </p:nvSpPr>
        <p:spPr>
          <a:xfrm>
            <a:off x="329184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7"/>
          <p:cNvSpPr/>
          <p:nvPr/>
        </p:nvSpPr>
        <p:spPr>
          <a:xfrm>
            <a:off x="384048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Shape 8"/>
          <p:cNvSpPr/>
          <p:nvPr/>
        </p:nvSpPr>
        <p:spPr>
          <a:xfrm>
            <a:off x="438912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9"/>
          <p:cNvSpPr/>
          <p:nvPr/>
        </p:nvSpPr>
        <p:spPr>
          <a:xfrm>
            <a:off x="493776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10"/>
          <p:cNvSpPr/>
          <p:nvPr/>
        </p:nvSpPr>
        <p:spPr>
          <a:xfrm>
            <a:off x="548640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11"/>
          <p:cNvSpPr/>
          <p:nvPr/>
        </p:nvSpPr>
        <p:spPr>
          <a:xfrm>
            <a:off x="603504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12"/>
          <p:cNvSpPr/>
          <p:nvPr/>
        </p:nvSpPr>
        <p:spPr>
          <a:xfrm>
            <a:off x="658368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13"/>
          <p:cNvSpPr/>
          <p:nvPr/>
        </p:nvSpPr>
        <p:spPr>
          <a:xfrm>
            <a:off x="713232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14"/>
          <p:cNvSpPr/>
          <p:nvPr/>
        </p:nvSpPr>
        <p:spPr>
          <a:xfrm>
            <a:off x="768096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15"/>
          <p:cNvSpPr/>
          <p:nvPr/>
        </p:nvSpPr>
        <p:spPr>
          <a:xfrm>
            <a:off x="822960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Shape 16"/>
          <p:cNvSpPr/>
          <p:nvPr/>
        </p:nvSpPr>
        <p:spPr>
          <a:xfrm>
            <a:off x="8778240" y="0"/>
            <a:ext cx="360" cy="5143320"/>
          </a:xfrm>
          <a:prstGeom prst="line">
            <a:avLst/>
          </a:prstGeom>
          <a:ln w="6350">
            <a:solidFill>
              <a:srgbClr val="1e1e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17"/>
          <p:cNvSpPr/>
          <p:nvPr/>
        </p:nvSpPr>
        <p:spPr>
          <a:xfrm>
            <a:off x="2286000" y="731520"/>
            <a:ext cx="4571280" cy="3656880"/>
          </a:xfrm>
          <a:prstGeom prst="ellipse">
            <a:avLst/>
          </a:prstGeom>
          <a:solidFill>
            <a:srgbClr val="00e5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8"/>
          <p:cNvSpPr/>
          <p:nvPr/>
        </p:nvSpPr>
        <p:spPr>
          <a:xfrm>
            <a:off x="3200400" y="914400"/>
            <a:ext cx="2285280" cy="255240"/>
          </a:xfrm>
          <a:prstGeom prst="rect">
            <a:avLst/>
          </a:prstGeom>
          <a:solidFill>
            <a:srgbClr val="00e5ff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76320" tIns="7632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97" strike="noStrike">
                <a:solidFill>
                  <a:srgbClr val="00e5ff"/>
                </a:solidFill>
                <a:latin typeface="Arial"/>
                <a:ea typeface="Arial"/>
              </a:rPr>
              <a:t>THANK YOU</a:t>
            </a:r>
            <a:endParaRPr b="0" lang="en-IN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19"/>
          <p:cNvSpPr/>
          <p:nvPr/>
        </p:nvSpPr>
        <p:spPr>
          <a:xfrm>
            <a:off x="457200" y="1280160"/>
            <a:ext cx="82288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0" spc="-1" strike="noStrike">
                <a:solidFill>
                  <a:srgbClr val="00e5ff"/>
                </a:solidFill>
                <a:latin typeface="Arial"/>
                <a:ea typeface="Arial"/>
              </a:rPr>
              <a:t>HireTrack</a:t>
            </a:r>
            <a:endParaRPr b="0" lang="en-IN" sz="6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20"/>
          <p:cNvSpPr/>
          <p:nvPr/>
        </p:nvSpPr>
        <p:spPr>
          <a:xfrm>
            <a:off x="1371600" y="2468880"/>
            <a:ext cx="6400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7a7a9a"/>
                </a:solidFill>
                <a:latin typeface="Arial"/>
                <a:ea typeface="Arial"/>
              </a:rPr>
              <a:t>Recruitment simplified for the startups that need it most.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Shape 21"/>
          <p:cNvSpPr/>
          <p:nvPr/>
        </p:nvSpPr>
        <p:spPr>
          <a:xfrm>
            <a:off x="1097280" y="3246120"/>
            <a:ext cx="2102400" cy="867960"/>
          </a:xfrm>
          <a:prstGeom prst="roundRect">
            <a:avLst>
              <a:gd name="adj" fmla="val 10526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22"/>
          <p:cNvSpPr/>
          <p:nvPr/>
        </p:nvSpPr>
        <p:spPr>
          <a:xfrm>
            <a:off x="1188720" y="329184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a7a9a"/>
                </a:solidFill>
                <a:latin typeface="Arial"/>
                <a:ea typeface="Arial"/>
              </a:rPr>
              <a:t>GitHub</a:t>
            </a:r>
            <a:endParaRPr b="0" lang="en-IN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23"/>
          <p:cNvSpPr/>
          <p:nvPr/>
        </p:nvSpPr>
        <p:spPr>
          <a:xfrm>
            <a:off x="1188720" y="3529440"/>
            <a:ext cx="19195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e5ff"/>
                </a:solidFill>
                <a:latin typeface="Arial"/>
                <a:ea typeface="Arial"/>
              </a:rPr>
              <a:t>https://github.com/shreya05-org/hiretrack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Shape 24"/>
          <p:cNvSpPr/>
          <p:nvPr/>
        </p:nvSpPr>
        <p:spPr>
          <a:xfrm>
            <a:off x="3474720" y="3246120"/>
            <a:ext cx="2102400" cy="867960"/>
          </a:xfrm>
          <a:prstGeom prst="roundRect">
            <a:avLst>
              <a:gd name="adj" fmla="val 10526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25"/>
          <p:cNvSpPr/>
          <p:nvPr/>
        </p:nvSpPr>
        <p:spPr>
          <a:xfrm>
            <a:off x="3566160" y="329184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a7a9a"/>
                </a:solidFill>
                <a:latin typeface="Arial"/>
                <a:ea typeface="Arial"/>
              </a:rPr>
              <a:t>Roll No.</a:t>
            </a:r>
            <a:endParaRPr b="0" lang="en-IN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26"/>
          <p:cNvSpPr/>
          <p:nvPr/>
        </p:nvSpPr>
        <p:spPr>
          <a:xfrm>
            <a:off x="3566160" y="3529440"/>
            <a:ext cx="19195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e5ff"/>
                </a:solidFill>
                <a:latin typeface="Arial"/>
                <a:ea typeface="Arial"/>
              </a:rPr>
              <a:t>25BBA149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27"/>
          <p:cNvSpPr/>
          <p:nvPr/>
        </p:nvSpPr>
        <p:spPr>
          <a:xfrm>
            <a:off x="5852160" y="3246120"/>
            <a:ext cx="2102400" cy="867960"/>
          </a:xfrm>
          <a:prstGeom prst="roundRect">
            <a:avLst>
              <a:gd name="adj" fmla="val 10526"/>
            </a:avLst>
          </a:prstGeom>
          <a:solidFill>
            <a:srgbClr val="16161f"/>
          </a:solidFill>
          <a:ln w="10160">
            <a:solidFill>
              <a:srgbClr val="2a2a38"/>
            </a:solidFill>
            <a:round/>
          </a:ln>
          <a:effectLst>
            <a:outerShdw algn="bl" blurRad="127080" dir="2700000" dist="49893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28"/>
          <p:cNvSpPr/>
          <p:nvPr/>
        </p:nvSpPr>
        <p:spPr>
          <a:xfrm>
            <a:off x="5943600" y="329184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a7a9a"/>
                </a:solidFill>
                <a:latin typeface="Arial"/>
                <a:ea typeface="Arial"/>
              </a:rPr>
              <a:t>Class</a:t>
            </a:r>
            <a:endParaRPr b="0" lang="en-IN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29"/>
          <p:cNvSpPr/>
          <p:nvPr/>
        </p:nvSpPr>
        <p:spPr>
          <a:xfrm>
            <a:off x="5943600" y="3529440"/>
            <a:ext cx="19195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e5ff"/>
                </a:solidFill>
                <a:latin typeface="Arial"/>
                <a:ea typeface="Arial"/>
              </a:rPr>
              <a:t>BBA AI &amp; DS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30"/>
          <p:cNvSpPr/>
          <p:nvPr/>
        </p:nvSpPr>
        <p:spPr>
          <a:xfrm>
            <a:off x="457200" y="47548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2a2a38"/>
                </a:solidFill>
                <a:latin typeface="Arial"/>
                <a:ea typeface="Arial"/>
              </a:rPr>
              <a:t>Shreya Chopra  ·  FacePrep Internship Project  ·  </a:t>
            </a:r>
            <a:endParaRPr b="0" lang="en-IN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PPT_Plus/1.0.0.0$Windows_X86_64 LibreOffice_project/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2026-06-27T19:40:17Z</dcterms:created>
  <dc:creator>Shreya Chopra</dc:creator>
  <dc:description/>
  <dc:language>en-IN</dc:language>
  <cp:lastModifiedBy/>
  <dcterms:modified xsi:type="dcterms:W3CDTF">2026-07-04T00:04:44Z</dcterms:modified>
  <cp:revision>3</cp:revision>
  <dc:subject>PptxGenJS Presentation</dc:subject>
  <dc:title>HireTrack — Progress Report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